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ff2465a72f43fb" /><Relationship Type="http://schemas.openxmlformats.org/officeDocument/2006/relationships/extended-properties" Target="/docProps/app.xml" Id="R36d634a6701a4c36" /><Relationship Type="http://schemas.openxmlformats.org/officeDocument/2006/relationships/officeDocument" Target="/ppt/presentation.xml" Id="R8f79c73cab5d4c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b74cae8af2491d"/>
  </p:sldMasterIdLst>
  <p:notesMasterIdLst>
    <p:notesMasterId xmlns:r="http://schemas.openxmlformats.org/officeDocument/2006/relationships" r:id="R26a099e3c107409d"/>
  </p:notesMasterIdLst>
  <p:sldIdLst>
    <p:sldId xmlns:r="http://schemas.openxmlformats.org/officeDocument/2006/relationships" id="256" r:id="Ra81119a2ea544111"/>
    <p:sldId xmlns:r="http://schemas.openxmlformats.org/officeDocument/2006/relationships" id="257" r:id="R3de4dcee6c3f48e8"/>
    <p:sldId xmlns:r="http://schemas.openxmlformats.org/officeDocument/2006/relationships" id="258" r:id="Rff639ca1b68c4a80"/>
    <p:sldId xmlns:r="http://schemas.openxmlformats.org/officeDocument/2006/relationships" id="259" r:id="Ra513dca8f48949ff"/>
    <p:sldId xmlns:r="http://schemas.openxmlformats.org/officeDocument/2006/relationships" id="260" r:id="R70bfa48d34834a04"/>
    <p:sldId xmlns:r="http://schemas.openxmlformats.org/officeDocument/2006/relationships" id="261" r:id="R8368b18c13404d20"/>
    <p:sldId xmlns:r="http://schemas.openxmlformats.org/officeDocument/2006/relationships" id="262" r:id="R44937f6eb5884e0a"/>
    <p:sldId xmlns:r="http://schemas.openxmlformats.org/officeDocument/2006/relationships" id="263" r:id="Re8e6550e37a64179"/>
    <p:sldId xmlns:r="http://schemas.openxmlformats.org/officeDocument/2006/relationships" id="264" r:id="R102aeef4968746af"/>
    <p:sldId xmlns:r="http://schemas.openxmlformats.org/officeDocument/2006/relationships" id="265" r:id="R044ad0561b2b456d"/>
    <p:sldId xmlns:r="http://schemas.openxmlformats.org/officeDocument/2006/relationships" id="266" r:id="R410ae34e740f4bf2"/>
    <p:sldId xmlns:r="http://schemas.openxmlformats.org/officeDocument/2006/relationships" id="267" r:id="R5b4d3237a4264c6c"/>
    <p:sldId xmlns:r="http://schemas.openxmlformats.org/officeDocument/2006/relationships" id="268" r:id="Ra5e9034aee854c22"/>
    <p:sldId xmlns:r="http://schemas.openxmlformats.org/officeDocument/2006/relationships" id="269" r:id="R18787bf79d2c4c0c"/>
    <p:sldId xmlns:r="http://schemas.openxmlformats.org/officeDocument/2006/relationships" id="270" r:id="R22096f3453cb44ac"/>
    <p:sldId xmlns:r="http://schemas.openxmlformats.org/officeDocument/2006/relationships" id="271" r:id="Rf409eccfa3e54738"/>
    <p:sldId xmlns:r="http://schemas.openxmlformats.org/officeDocument/2006/relationships" id="272" r:id="Rbdcc5d2b0057459c"/>
    <p:sldId xmlns:r="http://schemas.openxmlformats.org/officeDocument/2006/relationships" id="273" r:id="Re8b1b61720304eb3"/>
    <p:sldId xmlns:r="http://schemas.openxmlformats.org/officeDocument/2006/relationships" id="274" r:id="R1f6978f89ec744be"/>
    <p:sldId xmlns:r="http://schemas.openxmlformats.org/officeDocument/2006/relationships" id="275" r:id="R39f7b8137aba414a"/>
    <p:sldId xmlns:r="http://schemas.openxmlformats.org/officeDocument/2006/relationships" id="276" r:id="Ref26389ab44f4a90"/>
    <p:sldId xmlns:r="http://schemas.openxmlformats.org/officeDocument/2006/relationships" id="277" r:id="Ra4eb28948729430a"/>
    <p:sldId xmlns:r="http://schemas.openxmlformats.org/officeDocument/2006/relationships" id="278" r:id="Ra324b5e1e7644395"/>
    <p:sldId xmlns:r="http://schemas.openxmlformats.org/officeDocument/2006/relationships" id="279" r:id="R0723321947fb459d"/>
    <p:sldId xmlns:r="http://schemas.openxmlformats.org/officeDocument/2006/relationships" id="280" r:id="R46467281ee734345"/>
    <p:sldId xmlns:r="http://schemas.openxmlformats.org/officeDocument/2006/relationships" id="281" r:id="Rf96a2f2d607a49f2"/>
    <p:sldId xmlns:r="http://schemas.openxmlformats.org/officeDocument/2006/relationships" id="282" r:id="Re013b7ad93924e09"/>
    <p:sldId xmlns:r="http://schemas.openxmlformats.org/officeDocument/2006/relationships" id="283" r:id="Rc7befc97614a448c"/>
    <p:sldId xmlns:r="http://schemas.openxmlformats.org/officeDocument/2006/relationships" id="284" r:id="R4b1d9659fd6448e5"/>
    <p:sldId xmlns:r="http://schemas.openxmlformats.org/officeDocument/2006/relationships" id="285" r:id="Ree8d8326488545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ee324644f441c1" /><Relationship Type="http://schemas.openxmlformats.org/officeDocument/2006/relationships/slideMaster" Target="/ppt/slideMasters/slideMaster1.xml" Id="Rdbb74cae8af2491d" /><Relationship Type="http://schemas.openxmlformats.org/officeDocument/2006/relationships/notesMaster" Target="/ppt/notesMasters/notesMaster1.xml" Id="R26a099e3c107409d" /><Relationship Type="http://schemas.openxmlformats.org/officeDocument/2006/relationships/presProps" Target="/ppt/presProps.xml" Id="R36787bda604d4a04" /><Relationship Type="http://schemas.openxmlformats.org/officeDocument/2006/relationships/tableStyles" Target="/ppt/tableStyles.xml" Id="Re0fb91874abb4af5" /><Relationship Type="http://schemas.openxmlformats.org/officeDocument/2006/relationships/slide" Target="/ppt/slides/slide1.xml" Id="Ra81119a2ea544111" /><Relationship Type="http://schemas.openxmlformats.org/officeDocument/2006/relationships/slide" Target="/ppt/slides/slide2.xml" Id="R3de4dcee6c3f48e8" /><Relationship Type="http://schemas.openxmlformats.org/officeDocument/2006/relationships/slide" Target="/ppt/slides/slide3.xml" Id="Rff639ca1b68c4a80" /><Relationship Type="http://schemas.openxmlformats.org/officeDocument/2006/relationships/slide" Target="/ppt/slides/slide4.xml" Id="Ra513dca8f48949ff" /><Relationship Type="http://schemas.openxmlformats.org/officeDocument/2006/relationships/slide" Target="/ppt/slides/slide5.xml" Id="R70bfa48d34834a04" /><Relationship Type="http://schemas.openxmlformats.org/officeDocument/2006/relationships/slide" Target="/ppt/slides/slide6.xml" Id="R8368b18c13404d20" /><Relationship Type="http://schemas.openxmlformats.org/officeDocument/2006/relationships/slide" Target="/ppt/slides/slide7.xml" Id="R44937f6eb5884e0a" /><Relationship Type="http://schemas.openxmlformats.org/officeDocument/2006/relationships/slide" Target="/ppt/slides/slide8.xml" Id="Re8e6550e37a64179" /><Relationship Type="http://schemas.openxmlformats.org/officeDocument/2006/relationships/slide" Target="/ppt/slides/slide9.xml" Id="R102aeef4968746af" /><Relationship Type="http://schemas.openxmlformats.org/officeDocument/2006/relationships/slide" Target="/ppt/slides/slide10.xml" Id="R044ad0561b2b456d" /><Relationship Type="http://schemas.openxmlformats.org/officeDocument/2006/relationships/slide" Target="/ppt/slides/slide11.xml" Id="R410ae34e740f4bf2" /><Relationship Type="http://schemas.openxmlformats.org/officeDocument/2006/relationships/slide" Target="/ppt/slides/slide12.xml" Id="R5b4d3237a4264c6c" /><Relationship Type="http://schemas.openxmlformats.org/officeDocument/2006/relationships/slide" Target="/ppt/slides/slide13.xml" Id="Ra5e9034aee854c22" /><Relationship Type="http://schemas.openxmlformats.org/officeDocument/2006/relationships/slide" Target="/ppt/slides/slide14.xml" Id="R18787bf79d2c4c0c" /><Relationship Type="http://schemas.openxmlformats.org/officeDocument/2006/relationships/slide" Target="/ppt/slides/slide15.xml" Id="R22096f3453cb44ac" /><Relationship Type="http://schemas.openxmlformats.org/officeDocument/2006/relationships/slide" Target="/ppt/slides/slide16.xml" Id="Rf409eccfa3e54738" /><Relationship Type="http://schemas.openxmlformats.org/officeDocument/2006/relationships/slide" Target="/ppt/slides/slide17.xml" Id="Rbdcc5d2b0057459c" /><Relationship Type="http://schemas.openxmlformats.org/officeDocument/2006/relationships/slide" Target="/ppt/slides/slide18.xml" Id="Re8b1b61720304eb3" /><Relationship Type="http://schemas.openxmlformats.org/officeDocument/2006/relationships/slide" Target="/ppt/slides/slide19.xml" Id="R1f6978f89ec744be" /><Relationship Type="http://schemas.openxmlformats.org/officeDocument/2006/relationships/slide" Target="/ppt/slides/slide20.xml" Id="R39f7b8137aba414a" /><Relationship Type="http://schemas.openxmlformats.org/officeDocument/2006/relationships/slide" Target="/ppt/slides/slide21.xml" Id="Ref26389ab44f4a90" /><Relationship Type="http://schemas.openxmlformats.org/officeDocument/2006/relationships/slide" Target="/ppt/slides/slide22.xml" Id="Ra4eb28948729430a" /><Relationship Type="http://schemas.openxmlformats.org/officeDocument/2006/relationships/slide" Target="/ppt/slides/slide23.xml" Id="Ra324b5e1e7644395" /><Relationship Type="http://schemas.openxmlformats.org/officeDocument/2006/relationships/slide" Target="/ppt/slides/slide24.xml" Id="R0723321947fb459d" /><Relationship Type="http://schemas.openxmlformats.org/officeDocument/2006/relationships/slide" Target="/ppt/slides/slide25.xml" Id="R46467281ee734345" /><Relationship Type="http://schemas.openxmlformats.org/officeDocument/2006/relationships/slide" Target="/ppt/slides/slide26.xml" Id="Rf96a2f2d607a49f2" /><Relationship Type="http://schemas.openxmlformats.org/officeDocument/2006/relationships/slide" Target="/ppt/slides/slide27.xml" Id="Re013b7ad93924e09" /><Relationship Type="http://schemas.openxmlformats.org/officeDocument/2006/relationships/slide" Target="/ppt/slides/slide28.xml" Id="Rc7befc97614a448c" /><Relationship Type="http://schemas.openxmlformats.org/officeDocument/2006/relationships/slide" Target="/ppt/slides/slide29.xml" Id="R4b1d9659fd6448e5" /><Relationship Type="http://schemas.openxmlformats.org/officeDocument/2006/relationships/slide" Target="/ppt/slides/slide30.xml" Id="Ree8d83264885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225955798b4a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98dffa3a5044ed" /><Relationship Type="http://schemas.openxmlformats.org/officeDocument/2006/relationships/notesMaster" Target="/ppt/notesMasters/notesMaster1.xml" Id="R37856e575b8d4f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0bfda2612941dd" /><Relationship Type="http://schemas.openxmlformats.org/officeDocument/2006/relationships/notesMaster" Target="/ppt/notesMasters/notesMaster1.xml" Id="R22c358e5a2d446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93047ee3d44942" /><Relationship Type="http://schemas.openxmlformats.org/officeDocument/2006/relationships/notesMaster" Target="/ppt/notesMasters/notesMaster1.xml" Id="R6fe319d8105243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5363bed772406f" /><Relationship Type="http://schemas.openxmlformats.org/officeDocument/2006/relationships/notesMaster" Target="/ppt/notesMasters/notesMaster1.xml" Id="R92276874d5ad46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34fe752b7e43ff" /><Relationship Type="http://schemas.openxmlformats.org/officeDocument/2006/relationships/notesMaster" Target="/ppt/notesMasters/notesMaster1.xml" Id="Rd77a4b889c7643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839bdd199647d2" /><Relationship Type="http://schemas.openxmlformats.org/officeDocument/2006/relationships/notesMaster" Target="/ppt/notesMasters/notesMaster1.xml" Id="Rae152309fed645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e3608325fe4b78" /><Relationship Type="http://schemas.openxmlformats.org/officeDocument/2006/relationships/notesMaster" Target="/ppt/notesMasters/notesMaster1.xml" Id="R57600b24ddee45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aa0e122aa84610" /><Relationship Type="http://schemas.openxmlformats.org/officeDocument/2006/relationships/notesMaster" Target="/ppt/notesMasters/notesMaster1.xml" Id="R762756ac190d49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d57c66ac174489" /><Relationship Type="http://schemas.openxmlformats.org/officeDocument/2006/relationships/notesMaster" Target="/ppt/notesMasters/notesMaster1.xml" Id="Rcc3a81101e6a48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f7017e2c57454d" /><Relationship Type="http://schemas.openxmlformats.org/officeDocument/2006/relationships/notesMaster" Target="/ppt/notesMasters/notesMaster1.xml" Id="Rbcbf4c0f173b49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722436e4a34bcd" /><Relationship Type="http://schemas.openxmlformats.org/officeDocument/2006/relationships/notesMaster" Target="/ppt/notesMasters/notesMaster1.xml" Id="R9b4aea1aac894b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939f6ad8104e2f" /><Relationship Type="http://schemas.openxmlformats.org/officeDocument/2006/relationships/notesMaster" Target="/ppt/notesMasters/notesMaster1.xml" Id="R5947bb6af98144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971dbd7e714362" /><Relationship Type="http://schemas.openxmlformats.org/officeDocument/2006/relationships/notesMaster" Target="/ppt/notesMasters/notesMaster1.xml" Id="Rf37c99f84cb14e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ccbd06fd46467e" /><Relationship Type="http://schemas.openxmlformats.org/officeDocument/2006/relationships/notesMaster" Target="/ppt/notesMasters/notesMaster1.xml" Id="Rc6b1b120a1a345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e4056b59df40f2" /><Relationship Type="http://schemas.openxmlformats.org/officeDocument/2006/relationships/notesMaster" Target="/ppt/notesMasters/notesMaster1.xml" Id="R847f16347d3646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97689bf700f4609" /><Relationship Type="http://schemas.openxmlformats.org/officeDocument/2006/relationships/notesMaster" Target="/ppt/notesMasters/notesMaster1.xml" Id="R6959ca48a8d344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d520e3f050420e" /><Relationship Type="http://schemas.openxmlformats.org/officeDocument/2006/relationships/notesMaster" Target="/ppt/notesMasters/notesMaster1.xml" Id="R4d8237c4f039430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1f6c6ee407b4699" /><Relationship Type="http://schemas.openxmlformats.org/officeDocument/2006/relationships/notesMaster" Target="/ppt/notesMasters/notesMaster1.xml" Id="R810cc02e1887431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d3b98bf25246d7" /><Relationship Type="http://schemas.openxmlformats.org/officeDocument/2006/relationships/notesMaster" Target="/ppt/notesMasters/notesMaster1.xml" Id="R4e20c62ebb314ca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6ae8d51e2f4cb6" /><Relationship Type="http://schemas.openxmlformats.org/officeDocument/2006/relationships/notesMaster" Target="/ppt/notesMasters/notesMaster1.xml" Id="Rb67c749b977042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b96b444e13a418c" /><Relationship Type="http://schemas.openxmlformats.org/officeDocument/2006/relationships/notesMaster" Target="/ppt/notesMasters/notesMaster1.xml" Id="R045d2f04c4b5404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0312cc4daa34794" /><Relationship Type="http://schemas.openxmlformats.org/officeDocument/2006/relationships/notesMaster" Target="/ppt/notesMasters/notesMaster1.xml" Id="R97577a616eeb4a8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8ea0800ffa84f59" /><Relationship Type="http://schemas.openxmlformats.org/officeDocument/2006/relationships/notesMaster" Target="/ppt/notesMasters/notesMaster1.xml" Id="R1c0d6ac3085f4c8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a480341436b4fb4" /><Relationship Type="http://schemas.openxmlformats.org/officeDocument/2006/relationships/notesMaster" Target="/ppt/notesMasters/notesMaster1.xml" Id="R53ef91f2b69a4d3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9f3c5aa868d4cbc" /><Relationship Type="http://schemas.openxmlformats.org/officeDocument/2006/relationships/notesMaster" Target="/ppt/notesMasters/notesMaster1.xml" Id="R37c09024035c45f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3f23c50872c498c" /><Relationship Type="http://schemas.openxmlformats.org/officeDocument/2006/relationships/notesMaster" Target="/ppt/notesMasters/notesMaster1.xml" Id="Rf7e3c94b73a24d6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c15829b007e420a" /><Relationship Type="http://schemas.openxmlformats.org/officeDocument/2006/relationships/notesMaster" Target="/ppt/notesMasters/notesMaster1.xml" Id="Rbfcb4c60b4f4498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83c581d5c4e42ef" /><Relationship Type="http://schemas.openxmlformats.org/officeDocument/2006/relationships/notesMaster" Target="/ppt/notesMasters/notesMaster1.xml" Id="Ree400b2ad0a24b7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c779d2a42274e62" /><Relationship Type="http://schemas.openxmlformats.org/officeDocument/2006/relationships/notesMaster" Target="/ppt/notesMasters/notesMaster1.xml" Id="R10dc23f017794fd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04a580bff8840d6" /><Relationship Type="http://schemas.openxmlformats.org/officeDocument/2006/relationships/notesMaster" Target="/ppt/notesMasters/notesMaster1.xml" Id="R93c6b30d23204a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6a002744642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24f7d33514454a" /><Relationship Type="http://schemas.openxmlformats.org/officeDocument/2006/relationships/slideLayout" Target="/ppt/slideLayouts/slideLayout1.xml" Id="R6eddaf38252d46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ddaf38252d46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fadd7aa514c8f" /><Relationship Type="http://schemas.openxmlformats.org/officeDocument/2006/relationships/image" Target="/ppt/media/image.png" Id="Rab7c6943ba374f3f" /><Relationship Type="http://schemas.openxmlformats.org/officeDocument/2006/relationships/notesSlide" Target="/ppt/notesSlides/notesSlide1.xml" Id="R092e5c25428645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c169e103049b5" /><Relationship Type="http://schemas.openxmlformats.org/officeDocument/2006/relationships/notesSlide" Target="/ppt/notesSlides/notesSlide2.xml" Id="R1419362065b64c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e56a5215b4f5d" /><Relationship Type="http://schemas.openxmlformats.org/officeDocument/2006/relationships/notesSlide" Target="/ppt/notesSlides/notesSlide3.xml" Id="Red5604ab5a674c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f3da7dada4795" /><Relationship Type="http://schemas.openxmlformats.org/officeDocument/2006/relationships/notesSlide" Target="/ppt/notesSlides/notesSlide4.xml" Id="Rae56a8df76684a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2d2ca60364a6a" /><Relationship Type="http://schemas.openxmlformats.org/officeDocument/2006/relationships/notesSlide" Target="/ppt/notesSlides/notesSlide5.xml" Id="Reb7f4342d9d44f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3d6ce923c4cdc" /><Relationship Type="http://schemas.openxmlformats.org/officeDocument/2006/relationships/image" Target="/ppt/media/image2.png" Id="Rae4c9419fc7a4e35" /><Relationship Type="http://schemas.openxmlformats.org/officeDocument/2006/relationships/image" Target="/ppt/media/image3.png" Id="R642af16e1723459e" /><Relationship Type="http://schemas.openxmlformats.org/officeDocument/2006/relationships/notesSlide" Target="/ppt/notesSlides/notesSlide6.xml" Id="R00bb02bb702248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3b32ffce7460b" /><Relationship Type="http://schemas.openxmlformats.org/officeDocument/2006/relationships/notesSlide" Target="/ppt/notesSlides/notesSlide7.xml" Id="R339a21d5a62940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2032fbc3745a1" /><Relationship Type="http://schemas.openxmlformats.org/officeDocument/2006/relationships/notesSlide" Target="/ppt/notesSlides/notesSlide8.xml" Id="R63350e8c6dc140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bd479e39b476b" /><Relationship Type="http://schemas.openxmlformats.org/officeDocument/2006/relationships/notesSlide" Target="/ppt/notesSlides/notesSlide9.xml" Id="R5b490ee7248442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e0026c6144602" /><Relationship Type="http://schemas.openxmlformats.org/officeDocument/2006/relationships/notesSlide" Target="/ppt/notesSlides/notesSlide10.xml" Id="Rc0cb537ebaaa4a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4d8b2865c4ad7" /><Relationship Type="http://schemas.openxmlformats.org/officeDocument/2006/relationships/image" Target="/ppt/media/image4.png" Id="Rb750180bbb754937" /><Relationship Type="http://schemas.openxmlformats.org/officeDocument/2006/relationships/notesSlide" Target="/ppt/notesSlides/notesSlide11.xml" Id="Rfcbec6c15d8f46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951ef41b143da" /><Relationship Type="http://schemas.openxmlformats.org/officeDocument/2006/relationships/image" Target="/ppt/media/image5.png" Id="Rc9a502dfda994b9a" /><Relationship Type="http://schemas.openxmlformats.org/officeDocument/2006/relationships/notesSlide" Target="/ppt/notesSlides/notesSlide12.xml" Id="R5651d3a93a7f4a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fc4d43b474398" /><Relationship Type="http://schemas.openxmlformats.org/officeDocument/2006/relationships/notesSlide" Target="/ppt/notesSlides/notesSlide13.xml" Id="R6a50161a070f45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2a64d8a6a4db9" /><Relationship Type="http://schemas.openxmlformats.org/officeDocument/2006/relationships/notesSlide" Target="/ppt/notesSlides/notesSlide14.xml" Id="R59ab45029b334d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ad9299af344df" /><Relationship Type="http://schemas.openxmlformats.org/officeDocument/2006/relationships/image" Target="/ppt/media/image6.png" Id="R0b0a07fd63ba4b13" /><Relationship Type="http://schemas.openxmlformats.org/officeDocument/2006/relationships/notesSlide" Target="/ppt/notesSlides/notesSlide15.xml" Id="R78e8607db2684e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9b50065224f95" /><Relationship Type="http://schemas.openxmlformats.org/officeDocument/2006/relationships/notesSlide" Target="/ppt/notesSlides/notesSlide16.xml" Id="R1cebe5ee898347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8adf5c0d14fa1" /><Relationship Type="http://schemas.openxmlformats.org/officeDocument/2006/relationships/image" Target="/ppt/media/image7.png" Id="R8f83addd7d824e76" /><Relationship Type="http://schemas.openxmlformats.org/officeDocument/2006/relationships/notesSlide" Target="/ppt/notesSlides/notesSlide17.xml" Id="R6549802c29684b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1cd0d6ad94db2" /><Relationship Type="http://schemas.openxmlformats.org/officeDocument/2006/relationships/image" Target="/ppt/media/image8.png" Id="R4079881e3e1140f9" /><Relationship Type="http://schemas.openxmlformats.org/officeDocument/2006/relationships/notesSlide" Target="/ppt/notesSlides/notesSlide18.xml" Id="R18ae338f99b546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cd8c4f5854267" /><Relationship Type="http://schemas.openxmlformats.org/officeDocument/2006/relationships/image" Target="/ppt/media/image9.png" Id="R99a24258e3064e29" /><Relationship Type="http://schemas.openxmlformats.org/officeDocument/2006/relationships/image" Target="/ppt/media/image10.png" Id="R23265ddf1c5e412b" /><Relationship Type="http://schemas.openxmlformats.org/officeDocument/2006/relationships/image" Target="/ppt/media/image11.png" Id="R7a15cf69e5d64aa9" /><Relationship Type="http://schemas.openxmlformats.org/officeDocument/2006/relationships/image" Target="/ppt/media/image12.png" Id="Ra2dc641df2d64bb0" /><Relationship Type="http://schemas.openxmlformats.org/officeDocument/2006/relationships/notesSlide" Target="/ppt/notesSlides/notesSlide19.xml" Id="R13d7ba460f28420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1492bf85547fc" /><Relationship Type="http://schemas.openxmlformats.org/officeDocument/2006/relationships/image" Target="/ppt/media/image13.png" Id="R825da678e166471f" /><Relationship Type="http://schemas.openxmlformats.org/officeDocument/2006/relationships/image" Target="/ppt/media/image14.png" Id="Rd0d11729d1d44915" /><Relationship Type="http://schemas.openxmlformats.org/officeDocument/2006/relationships/image" Target="/ppt/media/image15.png" Id="R328815410fcf4cb0" /><Relationship Type="http://schemas.openxmlformats.org/officeDocument/2006/relationships/image" Target="/ppt/media/image16.png" Id="R820bb132322d4bf5" /><Relationship Type="http://schemas.openxmlformats.org/officeDocument/2006/relationships/notesSlide" Target="/ppt/notesSlides/notesSlide20.xml" Id="R8f88478bde17440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6aece7f084bd0" /><Relationship Type="http://schemas.openxmlformats.org/officeDocument/2006/relationships/notesSlide" Target="/ppt/notesSlides/notesSlide21.xml" Id="R14a43bdac4ff4b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c83d73fc34e08" /><Relationship Type="http://schemas.openxmlformats.org/officeDocument/2006/relationships/image" Target="/ppt/media/image17.png" Id="R136c7ef07f2648d8" /><Relationship Type="http://schemas.openxmlformats.org/officeDocument/2006/relationships/image" Target="/ppt/media/image18.png" Id="Rc25698758ab443f8" /><Relationship Type="http://schemas.openxmlformats.org/officeDocument/2006/relationships/image" Target="/ppt/media/image19.png" Id="R8dba877284ce4e58" /><Relationship Type="http://schemas.openxmlformats.org/officeDocument/2006/relationships/image" Target="/ppt/media/image20.png" Id="Rf6939992d7d446a9" /><Relationship Type="http://schemas.openxmlformats.org/officeDocument/2006/relationships/image" Target="/ppt/media/image21.png" Id="R4a1d079b55154149" /><Relationship Type="http://schemas.openxmlformats.org/officeDocument/2006/relationships/notesSlide" Target="/ppt/notesSlides/notesSlide22.xml" Id="R31d4a887b1f9475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0e55337ae476e" /><Relationship Type="http://schemas.openxmlformats.org/officeDocument/2006/relationships/image" Target="/ppt/media/image22.png" Id="Rb70fe6d9632840be" /><Relationship Type="http://schemas.openxmlformats.org/officeDocument/2006/relationships/image" Target="/ppt/media/image23.png" Id="R90df31d78a29440b" /><Relationship Type="http://schemas.openxmlformats.org/officeDocument/2006/relationships/image" Target="/ppt/media/image.jpeg" Id="R33691cbb428848f5" /><Relationship Type="http://schemas.openxmlformats.org/officeDocument/2006/relationships/image" Target="/ppt/media/image24.png" Id="Ref6262c8491b48d4" /><Relationship Type="http://schemas.openxmlformats.org/officeDocument/2006/relationships/image" Target="/ppt/media/image25.png" Id="R2fafa3286b1e4828" /><Relationship Type="http://schemas.openxmlformats.org/officeDocument/2006/relationships/notesSlide" Target="/ppt/notesSlides/notesSlide23.xml" Id="R000e808017614e1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738d9d2ac4bae" /><Relationship Type="http://schemas.openxmlformats.org/officeDocument/2006/relationships/notesSlide" Target="/ppt/notesSlides/notesSlide24.xml" Id="Rfea47b3b436a49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2c755662d4cd8" /><Relationship Type="http://schemas.openxmlformats.org/officeDocument/2006/relationships/image" Target="/ppt/media/image26.png" Id="R4c55936292d94d34" /><Relationship Type="http://schemas.openxmlformats.org/officeDocument/2006/relationships/image" Target="/ppt/media/image27.png" Id="Rd959fbe28f344437" /><Relationship Type="http://schemas.openxmlformats.org/officeDocument/2006/relationships/image" Target="/ppt/media/image28.png" Id="Rb6e100f534c54c82" /><Relationship Type="http://schemas.openxmlformats.org/officeDocument/2006/relationships/image" Target="/ppt/media/image29.png" Id="Reee9bf27605842ea" /><Relationship Type="http://schemas.openxmlformats.org/officeDocument/2006/relationships/notesSlide" Target="/ppt/notesSlides/notesSlide25.xml" Id="R502843105eac47f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cebbd7e09472a" /><Relationship Type="http://schemas.openxmlformats.org/officeDocument/2006/relationships/notesSlide" Target="/ppt/notesSlides/notesSlide26.xml" Id="Ra1e5a257a3d44e3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2b96c35d34cf1" /><Relationship Type="http://schemas.openxmlformats.org/officeDocument/2006/relationships/notesSlide" Target="/ppt/notesSlides/notesSlide27.xml" Id="Rc176892ffb4946e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6d2491e00407b" /><Relationship Type="http://schemas.openxmlformats.org/officeDocument/2006/relationships/image" Target="/ppt/media/image2.jpeg" Id="Rc7d1255b466b438f" /><Relationship Type="http://schemas.openxmlformats.org/officeDocument/2006/relationships/notesSlide" Target="/ppt/notesSlides/notesSlide28.xml" Id="Rd9e9d8398eba4fc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a5857d561456f" /><Relationship Type="http://schemas.openxmlformats.org/officeDocument/2006/relationships/notesSlide" Target="/ppt/notesSlides/notesSlide29.xml" Id="Re915db89961749e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0db81f63d4374" /><Relationship Type="http://schemas.openxmlformats.org/officeDocument/2006/relationships/notesSlide" Target="/ppt/notesSlides/notesSlide30.xml" Id="R47f921fcab3b44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0BBE50-7006-404F-B112-74E130D9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FB9D0-83E2-4944-90FD-9172C1F4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D32A1-A928-4C3E-A89A-BF4037D2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57225"/>
            <a:ext cx="1009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c6943ba374f3f"/>
          <a:stretch xmlns:a="http://schemas.openxmlformats.org/drawingml/2006/main"/>
        </p:blipFill>
        <p:spPr>
          <a:xfrm xmlns:a="http://schemas.openxmlformats.org/drawingml/2006/main">
            <a:off x="744848" y="666750"/>
            <a:ext cx="986805" cy="990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863C4-39BC-4CE5-ABBA-4C5EBCF1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9525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Perancangan dan Implementasi Back-End Sistem Informasi untuk Mendukung Digitalisasi Bisnis Pemancingan S Menggunakan Metodologi Rapid Application Development (RAD)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B36DD-912C-4107-A049-E69E0404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B0692-67C0-4A7D-BF3E-8EB963CA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Raka Bagaskara Putra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C68B7-C6F8-4AB2-8150-04696C73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F1E122183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540DF-95ED-481A-88A4-69DF5D43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Program Studi Sistem Informasi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Jurusan Teknik Elektro dan Informatika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Fakultas Sains dan Teknologi</a:t>
            </a:r>
          </a:p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Universitas Jambi,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A41E9-A2AD-47A7-A7F4-1E9863F2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05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Sidang Skripsi</a:t>
            </a:r>
          </a:p>
        </p:txBody>
      </p:sp>
    </p:spTree>
    <p:extLst>
      <p:ext uri="{BB962C8B-B14F-4D97-AF65-F5344CB8AC3E}">
        <p14:creationId xmlns:p14="http://schemas.microsoft.com/office/powerpoint/2010/main" val="642858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CEF853-C2F9-4022-9DCE-BD912C91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ABED8-598B-47F1-8CDC-103BD620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462DF-3EC3-41D4-9A2C-B1F99533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KONTEKS MASALAH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5CE88-9E55-4B5C-8940-C1191983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B37E3-44F8-4938-994B-9220FD61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DD941-4096-4968-9798-86044EEC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Operasional masih bertumpu pada catatan 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F4462-1721-44C5-BACA-E6465488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F19BD-8139-4AB1-AA2D-5AE02006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53FEC-41FA-4B30-BF99-8160995B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Transaksi dicatat di buku tulis tanpa format standar.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ADE4E-0002-4227-8832-A5FD7B48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F2BAD-0415-47CD-8EFC-B5C80F45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Data diinput ulang ke aplikasi pihak ketiga oleh pemilik.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DE211-00E0-4D29-ADA1-68D980E2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47345-6F51-4E1A-BA89-22E1FA86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Verifikasi pelanggan masih bergantung pada hafalan pegawai.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A9F5C-ED18-4009-BEEA-1C8BE05B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6B2EF-5FE2-4529-AB6A-5A1D39B5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Data transaksi, stok, rental, dan laporan belum berada di satu sistem.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AABF8-1A36-4917-AAA3-80EE6B31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E46CD-9AFE-4CF0-9098-5E3A534D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B099A-B454-4B8C-BAD8-8E30D1B4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Buku tulis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44106-BA2E-49E4-BF55-D805E146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6003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A7E3D-B2B5-4A88-A0B9-2C5E7793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89E3F-9C1A-418A-B52B-1B18F183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8695E-9862-47B5-A829-EFB93B85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Input ulang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12A50-DEB3-45BE-9D68-B98076F6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400" y="26003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BF5905-9F07-435F-B457-F0F0CD59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8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D40F25-52C8-40E1-865D-CAF89CCF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8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0722EC-4704-4028-B247-D0210EA2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Rekap terlambat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5431EE-BEC5-4314-B6DA-39741276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EDF115-724E-438C-9036-BF52289F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E67243-FBFC-4482-AF01-E104F9D9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671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1-3 hari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53A0E3-3D2B-4015-8ABB-F39C3220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62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Jeda rekap transaksi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B69A40-A7A7-46F8-BA78-12E9CA3E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8833C9-0C02-4026-9E80-F3358736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6F6D3A-4D36-499C-B184-790A96E1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67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Terpisah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898F79-5223-423F-8A0B-3DD81984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Sumber data operasional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03B779-738B-480B-8B6C-9158259B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Sumber: Latar Belakang dan Ringkasan skripsi.</a:t>
            </a:r>
          </a:p>
        </p:txBody>
      </p:sp>
    </p:spTree>
    <p:extLst>
      <p:ext uri="{BB962C8B-B14F-4D97-AF65-F5344CB8AC3E}">
        <p14:creationId xmlns:p14="http://schemas.microsoft.com/office/powerpoint/2010/main" val="1428431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B4AB7F-F3A9-48BD-AA9A-545E7270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F6132-7F5A-4F8A-A704-A8D2FEC3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9265D-AC03-4871-B733-2296FEB6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URGENSI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A73DC-55E8-408D-AA8B-0945B71A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F4D0A-0582-4DEC-B12F-D9E4FE63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5F38F-C1D6-4FF5-9FE4-B83743C7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Masalah manual menghambat kontrol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BA99F-7502-42BE-BBAA-7AE51E47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7A3E6-28DA-4A86-BB0B-E870D8FA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B4015-DD9F-4166-831C-FF2E608B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C6CC5-303B-4BB3-83EE-F2930253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27329-B4F3-497D-839F-752DB3D6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5FCD7-2447-4009-AF97-C5D7C835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Kondisi Lapangan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075EF-3945-4DD0-908E-18D2506B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Risiko Operasional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C973F-0387-4F7C-B891-74C352EA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14AB2-7558-4EEC-897C-D552AEE4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Pencatatan ganda antara catatan lapangan dan aplikasi.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8F25B-E773-4ADA-9106-A2FB5923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3A3B9-FDDD-4F70-A524-44FFDA9C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Pegawai menangani transaksi, timbang ikan, pesanan, dan rental sekaligus.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70CCE-81E8-4145-BF5A-7D816189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D1E66-91A8-4670-A50C-9DB12D32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stok dan laporan berada di proses yang terpisah.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62447-B293-460C-BCA8-82A1328C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1D83A-0947-4FFC-9769-1CE639D6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Duplikasi kerja dan potensi data berbeda.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81056-D294-4B8E-B3ED-7634128F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8B8D8-7D50-4F3A-BDE1-E88B8747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Kesalahan identifikasi member saat pelanggan bertambah.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279740-D5AB-4F3B-B990-D24D376E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9A09B2-E6F7-4109-8B94-C8259D68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Monitoring pemilik lambat ketika tidak berada di lokasi.</a:t>
            </a:r>
          </a:p>
        </p:txBody>
      </p:sp>
    </p:spTree>
    <p:extLst>
      <p:ext uri="{BB962C8B-B14F-4D97-AF65-F5344CB8AC3E}">
        <p14:creationId xmlns:p14="http://schemas.microsoft.com/office/powerpoint/2010/main" val="13376523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C664A-FA9E-4F1F-A8CF-14A5BAC7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C786B-FAA8-446B-BE38-18AD6CE2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E1CF5-D7CA-4270-9B00-E3BEBC8D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ARAH PENELITIAN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6CC36-2CB7-4559-9820-319C759C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96057-D4C5-4DDA-947A-4F047EAF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BE5FF-991D-40B9-9CB4-047350FA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Penelitian menjawab kebutuhan back-end yang terintegrasi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49D76-6312-4068-ADE8-95BF521A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EB330-4EF2-401F-9C57-A4090A1F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Rumusan masalah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28F9C-5D26-476C-A99A-B818AB61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A1F82-EB89-4D4A-9D89-587BA369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Bagaimana analisis kebutuhan back-end mendukung operasional Pemancingan 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E31B8-96EA-427D-8CE3-4F82A970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788AC-8822-4E77-8E5B-F3787B79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Bagaimana rancangan dan implementasi back-end menggunakan RAD?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5B3DC-238D-4451-A0D8-A4944B59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Tujuan penelitian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297BF-1377-4380-9370-68593E43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143FA-1157-46E9-92AE-56EBC23B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Menganalisis kebutuhan sistem sesuai proses operasional.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08C16-8135-4AB7-BD95-41FDC94C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42D861-6463-473D-87A7-7D841051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Merancang dan mengimplementasikan back-end berbasis web yang terintegrasi.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358F5B-6945-4C7B-B0F8-16EE4D46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DB2C1-B24E-45B4-8F77-A2215CFA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932845-DCC4-4C00-9709-EC672E68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Analisis kebutuhan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D4C77C-F942-486C-836E-EC5C5A61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5019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462BB-E02C-4E22-92B3-EFE52554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879FC-BE37-4CEE-9CBA-0D7C0115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48D57-5C64-4DEC-A087-936A2C64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70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Rancangan back-end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29F644-F7C9-4A72-A925-824B79EA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50" y="5019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137B76-72CE-4CFB-917C-A06EFE6A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C40AF5-B75D-4F6E-8B4E-A0293DC9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DDFEAD-ED99-41A4-839B-97B416BA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Implementasi API</a:t>
            </a:r>
          </a:p>
        </p:txBody>
      </p:sp>
    </p:spTree>
    <p:extLst>
      <p:ext uri="{BB962C8B-B14F-4D97-AF65-F5344CB8AC3E}">
        <p14:creationId xmlns:p14="http://schemas.microsoft.com/office/powerpoint/2010/main" val="3750466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8D8E07-1C77-4771-AED5-55D6F9C3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744E4-833D-4A4E-9A9A-429B82B6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AFEAE-08A2-4A7F-8773-3F2D7DCF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RUANG LINGKUP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15CB3-ED01-4E58-83C4-B2E7D262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6C9A6-26A3-419E-AF6A-1BCFC312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AD112-17E0-4C1B-9F23-6E4F1000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Batasan menjaga fokus pada layanan back-end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A195D-D9E9-4417-AE4F-448A207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F291B-A247-4A6D-ADF6-E3B05479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DBA1D-0C03-487D-8CF8-AD8D0C23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Fokus pada analisis kebutuhan, perancangan, dan implementasi back-end.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6D2A8-399C-40EE-AE52-32DFAAE7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5F535-9ED5-4990-BF68-86245F7F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717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Metode pengembangan: RAD dengan model System Prototyping.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3FE37-6754-4F90-B39C-411D867A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845B8-98DF-44F4-A662-8A33504B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43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Fitur inti: transaksi, stok ikan, penyewaan alat, dan laporan.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8D014-D0E9-486E-9CA4-461FDB9F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89A0C-50E7-43C4-BE63-EE2F2FF3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Fitur pendukung: autentikasi, role, member, voucher, notifikasi, konfigurasi, API.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262A5-FEDB-4467-909A-44B55976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7B57D-CB6B-43FC-BA7D-D7BF00A5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86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Front-end dibahas sebagai prototype integrasi dari penelitian sebelumnya.</a:t>
            </a:r>
          </a:p>
        </p:txBody>
      </p:sp>
    </p:spTree>
    <p:extLst>
      <p:ext uri="{BB962C8B-B14F-4D97-AF65-F5344CB8AC3E}">
        <p14:creationId xmlns:p14="http://schemas.microsoft.com/office/powerpoint/2010/main" val="7281909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EDD12A-5726-43D7-99A0-C9E90792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90599-A614-444C-A750-18969F53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9DE2E-8A60-4214-B23C-C8B042FF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METODOLOGI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B0F02-B099-425F-9C46-3171DA6D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593DB-D0D5-4EF4-919E-FFFDD603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13AB2-7B37-41CC-BA89-D2F8DDBC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RAD dipakai untuk mengembangkan prototype secara iteratif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BA3F9-08C8-4B58-A78B-5AAEDD3A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DEEF8-AB1A-438F-873F-3FEBCF82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48768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c9419fc7a4e35"/>
          <a:stretch xmlns:a="http://schemas.openxmlformats.org/drawingml/2006/main"/>
        </p:blipFill>
        <p:spPr>
          <a:xfrm xmlns:a="http://schemas.openxmlformats.org/drawingml/2006/main">
            <a:off x="800100" y="1816512"/>
            <a:ext cx="4857750" cy="19867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B1645-6C99-4AF8-B810-80AC04C0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2. Tahapan System Prototyping dalam RAD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F1B89-A08D-48A2-B26C-7F61076C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657350"/>
            <a:ext cx="22098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af16e1723459e"/>
          <a:stretch xmlns:a="http://schemas.openxmlformats.org/drawingml/2006/main"/>
        </p:blipFill>
        <p:spPr>
          <a:xfrm xmlns:a="http://schemas.openxmlformats.org/drawingml/2006/main">
            <a:off x="7412553" y="1666875"/>
            <a:ext cx="1500744" cy="3905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60879-338B-4966-BEEA-7BB452CC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48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4. Kerangka kerja penelitian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A582B-ED08-4660-B9CA-481A876C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E454C-1ADF-4EAB-A4EC-D952C754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Planning mengidentifikasi masalah dan ruang lingkup.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B26E9-A1D0-4C78-BB3F-4031E3D3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E077C-D2EC-4502-A427-174B3EA8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3392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Analysis memetakan kebutuhan, aktor, data, serta proses bisnis.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445B18-556A-4B8B-AC12-4368B5BD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0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21E1D-BCBA-4762-A981-622E1E87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339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Design menerjemahkan kebutuhan ke UML, database, dan API.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79DB6-0E48-44C7-9AB0-CCECA77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0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F15537-1D41-4E2B-979E-F152B7DA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3402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Implementation membangun Laravel, MySQL, integrasi, dan evaluasi.</a:t>
            </a:r>
          </a:p>
        </p:txBody>
      </p:sp>
    </p:spTree>
    <p:extLst>
      <p:ext uri="{BB962C8B-B14F-4D97-AF65-F5344CB8AC3E}">
        <p14:creationId xmlns:p14="http://schemas.microsoft.com/office/powerpoint/2010/main" val="1256976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216755-E276-4D04-886E-605DDD0D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2366F-E7EC-4113-8645-598EC206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98BA9-9C6B-404C-A5AF-8DA908BA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PENGUMPULAN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F5A65-DDD1-4C1C-AA22-C9E41394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0C078-9E88-4F68-ACD6-ADE14CA3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2DF38-4630-4238-BD6F-3A06B716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Data lapangan dikumpulkan dari proses nyata Pemancingan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3FAE6-6117-4FA7-BF1E-FBA73719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A5901-8979-44D3-84C6-705B8790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4D0B0-44AE-466B-9853-14B58315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B0AD8-68EC-406B-B692-2EF166B6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The Hok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00F71-84DD-4F74-AFC3-7867DBE1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Lokasi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5D5F3-C09C-4A76-84B9-6DB4BEC6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Kec. Jambi Selatan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55668-4A79-4DDC-BDB6-694BF2F2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76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8CEE4-37C9-46DF-8F88-AE9D600E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5595B-CE0A-4437-8581-AF11D533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52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Nov 2025-Mar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98E34-8E68-4CC6-9359-5DFF7F9D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Periode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A2733-41E1-45B8-A165-F8D6D0FA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Teknik pengumpulan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38CFDB-1600-4A43-B0E0-65CD5B45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99BF0-B0A0-423D-B471-89182BD7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Studi literatur untuk teori sistem informasi, RAD, Laravel, MySQL, dan evaluasi.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670F7-C953-4513-8983-7A1248E4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82366-811F-4376-81E8-A09BF6BE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00575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Observasi aktivitas transaksi, stok, penyewaan, dan laporan.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C1F1E-8067-463C-B8FA-FB45DFD2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D4448-7E09-4AF8-A736-C1DB9379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Wawancara pemilik dan pegawai untuk menggali masalah dan kebutuhan.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8483DA-2FE1-4DD4-9901-8F89C5BD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C133C-F32B-442D-B8AF-754E63A3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57825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Wawancara terbatas pelanggan untuk memahami alur layanan.</a:t>
            </a:r>
          </a:p>
        </p:txBody>
      </p:sp>
    </p:spTree>
    <p:extLst>
      <p:ext uri="{BB962C8B-B14F-4D97-AF65-F5344CB8AC3E}">
        <p14:creationId xmlns:p14="http://schemas.microsoft.com/office/powerpoint/2010/main" val="11006574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27D3C0-5618-441D-ABDD-B4D6DB15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61E4A-F28E-41FA-84A0-2F39E6EB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EAB67-8090-4A6B-BF59-C779AE25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A5A86-5579-45DB-9563-E67AC0BB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AB468-8D4F-4F31-9D0A-78B2004E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C9DDB-75AB-4641-9F87-9C35BE07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Planning menetapkan masalah, ruang lingkup, dan kebutuhan awal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4CC9A-FE3B-47A5-A486-42212D11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8D55F-A549-49F2-97F4-7F458AF6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A8C57-AD37-477C-A5B0-7AA955E1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94BF1-9E1B-44FE-BAD7-358EF306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Observasi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05DDF-5764-4DFE-BFE5-0EF9CBA9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C98D7-5B77-4B65-BAB4-5557DAFA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CE236-A4BA-4179-9E9E-D71C4F8B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B8EA9-251B-4F8D-BE08-EB090B27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Wawancara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C0BDB-D0BB-4AB5-A277-324B5E00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6C244-97A2-41CE-B76F-453E23CD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8A81B-8E60-4E20-9E4E-89FFD7E8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59AA2-BC17-49CF-BEED-361DD4CE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Identifikasi masalah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8BF4E-09BA-4D87-93AB-6928FFA8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188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37E75-E866-4802-B834-0FF80149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8CA0F-4E1D-4E9F-8BF7-2D53C9DB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1CBCE-6B80-4856-B1B2-18D06B4B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888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Rencana kerja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A5446-E3CE-4128-B066-A4B4C756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5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10A31-55CD-4859-98FC-0724562B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42900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Masalah utama: transaksi manual, stok belum terhubung, laporan kurang efektif.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CE1EE5-E13C-4F9A-B7D3-DCAAE931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1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74341B-1C8F-4175-9AF8-2C421F3E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94335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Ruang lingkup ditetapkan pada back-end dan integrasi dengan prototype UI.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BD7498-7754-4318-9899-02A27685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33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E081A1-6AE5-44C9-9CC0-2C19B214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5770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Aktor awal: Owner, Employee, Member.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0B040A-A638-4550-B7BB-D7CD4411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6BC630-104E-41E6-A90E-C27CA6F0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7205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Output tahap: kebutuhan awal, proses utama, dan acuan pengembangan berikutnya.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4867DC-C936-442A-AA94-EEBD3D9F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Sumber: Tahap Perencanaan (Planning), BAB IV.</a:t>
            </a:r>
          </a:p>
        </p:txBody>
      </p:sp>
    </p:spTree>
    <p:extLst>
      <p:ext uri="{BB962C8B-B14F-4D97-AF65-F5344CB8AC3E}">
        <p14:creationId xmlns:p14="http://schemas.microsoft.com/office/powerpoint/2010/main" val="1495773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4962DD-76AE-4DCA-B41A-65FF82AC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94113-59F6-4C55-8FC4-F3F23B41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E53B8-1CE1-4FC7-9ABA-8BC7DEE8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8525A-B451-43A1-ADCC-DF6872D0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D93C2-C6B4-46EC-9DEB-F0134002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E0EB7-108A-4E74-B6B1-4C168F66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Analysis mengubah temuan lapangan menjadi kebutuhan sistem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E71F2-212A-4D10-8BBB-09BC5A4F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F69CA-2217-4961-99DC-CD0FEF2D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34270-C1ED-4B32-BEDF-3F024C66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840EA-7127-4264-A81F-9A055D6C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13A9C-3BF0-486F-BC41-484B8C74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fungsional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19DA5-D204-4026-9A2D-D6CB7407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3DE9E-2539-4F1F-828D-3244D457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915EC-A83F-4DBF-918D-DAB97775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C2B41-0962-4748-95C9-50B880ED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574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74AD0-106E-4CF7-908C-2EC6672B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non-fungsional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B4D6F-5BFB-43D8-BE16-B445B92E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03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299AB-13C8-46D6-8652-A828AF8B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BC172D-FC5A-4A96-A80A-0D232052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546FD-75A8-47D3-AE80-9AA43D95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083268-2F76-4A21-9509-BE7BA587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52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7395C-48F2-4F23-85D6-B6A55B07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03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78E74-E77D-42D2-9A9C-A41B2168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FB3609-6EEC-48B1-85A1-B49EE441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684B62-B00E-469A-BE59-D324B41A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574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8D3D7-A1F4-4771-B249-195F37A7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52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Aktor sistem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DF618-BE4E-424C-A126-689A1DF8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82ED1-2FD9-41A5-8B50-C527F88A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7F1105-106F-477B-9FAD-A5923206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62375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Fungsi inti mencakup autentikasi, member, kedatangan, pesanan, checkout, stok, voucher, laporan, dan API.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034F79-135D-46E5-9C89-ED62C6B8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834380-160A-40F9-9163-92D7F5CD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Kualitas sistem menekankan autentikasi, pembatasan role, validasi, integritas data, dan integrasi API.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D62AE9-0085-40E9-BF2C-FD323D32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B4CCDF-9F89-489E-B118-E1B29EB0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0125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utama meliputi pengguna, member, ikan, stok, menu, rental, transaksi, voucher, notifikasi, dan konfigurasi.</a:t>
            </a:r>
          </a:p>
        </p:txBody>
      </p:sp>
    </p:spTree>
    <p:extLst>
      <p:ext uri="{BB962C8B-B14F-4D97-AF65-F5344CB8AC3E}">
        <p14:creationId xmlns:p14="http://schemas.microsoft.com/office/powerpoint/2010/main" val="11403409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6EEEED-6D76-46CE-BBA2-ADB2E648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99B93-E7FD-494C-9B29-58ECBE59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1E572-D741-43D1-A50C-A2CF7C1F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68819-B822-4F7F-B0FC-C750CF8A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3ABFB-FADC-4265-B9D6-BC75484E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14FD1-C71B-4A6D-92F3-5E3142E6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Sistem usulan menyatukan alur yang sebelumnya terpisah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8B43D-65A8-4203-A206-5751362C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303D6-F911-4C4D-8CB3-A775657D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5D31B-5B7E-49EF-BC9C-8C1A45AD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36470D-6D34-4F97-877B-98044E4A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343AC-6536-46EF-A6F1-89E6E296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A1377-093D-4836-B272-50B075AB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Sistem Berjalan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48CED-4FBA-403F-A4D9-21E1BD1F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Sistem Usulan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E59E0-C7EF-44A6-BF51-4B851BEA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6DC08-DC26-4957-B68C-9CD84FBC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Transaksi dicatat di buku tulis.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2F206-B0F6-44E6-8963-D0367179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6B534-EB6A-4E61-B571-806C90C4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Pemilik melakukan input ulang.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FFCDA-9377-4341-9540-CCB6AC80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7D45E-05B0-4E85-94AB-4D6A2096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 divalidasi dari ingatan pegawai.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92B66-1255-4721-A656-A5A39BF0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52E17D-6456-480E-81F2-76E10B9E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Stok dan laporan tidak otomatis terhubung.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A298A-E7B5-4677-9FAD-413294E0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75128-4B09-4AA5-91DC-447EB7B6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masuk melalui layanan back-end.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6A03C-C208-4FAC-8C05-1FD6CFE9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65C91-D891-42FC-A266-3584F29E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Role menentukan hak akses setiap aktor.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9CC40F-8686-4479-8DE6-DF4B3437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5B1F5-39DF-4209-A4E7-F3FFFEF9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Member, transaksi, stok, voucher, dan laporan memakai basis data yang sama.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B70BF6-4917-45EF-9AF9-A0BC1E08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B35244-C199-4ADE-80ED-E956B554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671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Dashboard dan laporan mengambil data operasional terkini.</a:t>
            </a:r>
          </a:p>
        </p:txBody>
      </p:sp>
    </p:spTree>
    <p:extLst>
      <p:ext uri="{BB962C8B-B14F-4D97-AF65-F5344CB8AC3E}">
        <p14:creationId xmlns:p14="http://schemas.microsoft.com/office/powerpoint/2010/main" val="14907654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34F92-E098-428E-A7EC-DE9EEC9D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75AD8-B4D9-4784-8BD0-9F5D674E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EB48C-6F6A-45D5-9F48-BB5E415A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B1B63-4A52-4FD4-9E39-7139AAA9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16962-710F-44C3-8424-583FC625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E9CEA-AE1C-4494-BD99-20CCE74A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Use case memusatkan tiga aktor pada proses operasional inti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71733-09D2-4C27-8F2D-7C50C368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E037F-63B2-4EC7-B0C5-88C6A46A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62100"/>
            <a:ext cx="7162800" cy="435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0180bbb754937"/>
          <a:stretch xmlns:a="http://schemas.openxmlformats.org/drawingml/2006/main"/>
        </p:blipFill>
        <p:spPr>
          <a:xfrm xmlns:a="http://schemas.openxmlformats.org/drawingml/2006/main">
            <a:off x="4578071" y="1571625"/>
            <a:ext cx="3035858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E7966-DEAF-4E11-8F8C-CC56C714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81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5. Use Case Diagram Umum Sistem Informasi Pemancingan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BC33A-0466-4781-93E6-0AD03F39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Aktor: Pemilik, Pegawai, Member.</a:t>
            </a:r>
          </a:p>
        </p:txBody>
      </p:sp>
    </p:spTree>
    <p:extLst>
      <p:ext uri="{BB962C8B-B14F-4D97-AF65-F5344CB8AC3E}">
        <p14:creationId xmlns:p14="http://schemas.microsoft.com/office/powerpoint/2010/main" val="19054189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FBAC32-D597-4C11-B868-93143CDC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CC70D-32D6-4BFF-9739-6D9C7E86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CE810-64FA-438F-B227-9F2645A9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BBDA4-D696-453E-8416-9FC81C47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D5C7D-C8B3-421F-8BC5-B304F30C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336C7-B9D9-408A-8406-37B7806B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Class diagram menggambarkan relasi data dan logika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CF08F-663C-4059-A675-56E46CD7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4C241-17FD-4E86-A2E8-2CE0DA53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562100"/>
            <a:ext cx="10496550" cy="435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502dfda994b9a"/>
          <a:stretch xmlns:a="http://schemas.openxmlformats.org/drawingml/2006/main"/>
        </p:blipFill>
        <p:spPr>
          <a:xfrm xmlns:a="http://schemas.openxmlformats.org/drawingml/2006/main">
            <a:off x="2564694" y="1571625"/>
            <a:ext cx="7062611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CD9D2-A890-4B33-B6E9-B0129042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39. Class Diagram Sistem Informasi Pemancingan S</a:t>
            </a:r>
          </a:p>
        </p:txBody>
      </p:sp>
    </p:spTree>
    <p:extLst>
      <p:ext uri="{BB962C8B-B14F-4D97-AF65-F5344CB8AC3E}">
        <p14:creationId xmlns:p14="http://schemas.microsoft.com/office/powerpoint/2010/main" val="1092949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6044D3-12BB-40D7-AB2D-0C460E12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F5DC3-19F4-469D-BE83-22883A9A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31B3D-86D5-4FCD-B064-8C39EF4C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 DATABASE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8B607-54C8-4AD7-8D01-9ADBDB54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CE04D-9B77-4343-8169-DB731A72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B1771-3745-41DC-90F7-413FBE24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Rancangan database menata entitas utama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38216-13B7-4362-A717-0901E21B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A77C8-7F1C-4E2D-8555-DA04EF8C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61B8F-C00E-4FC8-8BBB-7F3F2AFE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3E8C5-B1CE-49A3-92D3-9C247371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D250C-D2CC-4341-86E2-E89E2CC8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Entitas rancangan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0B03A-6DF1-4E66-8223-8B601D9B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9D938-91CD-411A-AA7C-07B20BC4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A49D6-6E43-4002-9936-CD1D66A3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5670B-9D54-4329-9FEA-70418917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62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D22DB-AFD0-4F52-80B8-04A08699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Kelompok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571C0-D8BD-4D0B-8525-A0777DC8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Pengguna, transaksi, stok, layanan, konfigurasi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3D347C-46B1-41DC-BD8C-D4FCD3AB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Entitas kunci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3A47D-D1AA-4CC1-B1FF-2D378662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A34A3-2324-4FD1-9842-9AD215A9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User, Member, Member Tier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2369A8-01B3-447D-A026-175F0A44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6296B-0A2B-4365-81F6-B751E385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Arrival, Pending Order, Transaksi, Transaction Item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4DA47-82ED-417F-AF4F-EA27934A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57F941-F8F2-43CC-81B9-0482DAA0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Tipe Ikan, Stok Ikan, Riwayat Restok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F95499-4A1E-4C6B-A37C-AEA954F7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1E1D56-D924-463D-AAE0-6C3C6E0F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Menu, Rental Item, Voucher, Notifikasi, Event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16B471-621D-4E43-9D94-1832C8F5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0CA2D6-1538-4E3D-8523-2CCDB5B9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Konfigurasi Guest dan QRIS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C05F7F-AEE3-4EE2-BF3A-56BE1730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07BC33-A1A3-4315-8F95-4E9191D1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327311-6881-45D6-A0C9-ADAB01DA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Member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A7FFF7-3691-4DE6-A208-B93706C7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46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7037DF-FDF1-4140-A9DB-15F6B342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86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070303-B631-4ED0-A92D-02CC2E3D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86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1869C4-8F17-418B-B6AC-0B5886E2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16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Kedatangan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B1C12C-7CB8-4B8C-A809-DF15ED11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20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74A2FE-CF86-4366-A015-364B50E6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60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306E57-E0EF-431D-AA5C-C278E3F6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60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8D7CB7-0585-4EEF-8811-115E231F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90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Pesanan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DA65D8-056A-4401-9D40-965EC4F8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94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A0D7C8-A699-43ED-B698-28FB155E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34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0158BD-9914-4D65-9782-111EF963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34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13C7D4-EAA4-4877-9B29-AEA3A3AC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4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Transaksi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5FF1F4-04D5-4D72-A504-8EC65915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68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21C035-2A93-41D1-BB14-B5B68612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08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881077-44A6-4CB9-993F-24B37C2E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08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32DA8C-D7E5-49B1-A18C-95A0D080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38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Laporan</a:t>
            </a:r>
          </a:p>
        </p:txBody>
      </p:sp>
    </p:spTree>
    <p:extLst>
      <p:ext uri="{BB962C8B-B14F-4D97-AF65-F5344CB8AC3E}">
        <p14:creationId xmlns:p14="http://schemas.microsoft.com/office/powerpoint/2010/main" val="10102165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8C7928-EFE1-4BC6-B5A4-816345D4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5B6F8-BFB8-48C3-837F-E37B1BA3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5D216-D8BD-4C2E-BF80-9F32C784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D9FEA-F6CF-4ED9-9EB0-0EF3D19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C78B7-5D51-4791-8B22-E2C89420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B21257-1A4E-4899-93AB-5667F850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Endpoint API dirancang sebagai jembatan data antarmuka dan back-end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FAB43-C6E8-4698-B43B-E75E0226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98AC6-20A5-4E4F-8D94-48DB4827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D624D-5830-48C7-BD86-9E16E3CD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A176B-920A-4111-A26C-078AADF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F530D-2FC8-4AB9-9128-84DF5BF2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Endpoint rancangan utama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C310C-2366-469B-BDF7-BA382132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70CEF-8382-4D65-907B-8304E902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05CBC-48B0-41D2-B832-E0435B37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/api/login untuk autentikasi pengguna.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A699C-5C57-452F-BBE5-F8ACB1B7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14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A7694-8F41-4871-B642-13CF5038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3837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/api/register untuk registrasi member.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A43B8-C95E-4247-BEC4-3BACB7DA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2AE44-872F-4060-8620-4A9D3DC7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GET /api/member/profile untuk profil dan dashboard member.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442713-E650-4E49-8E3E-BBF8243F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04691-1668-4E3F-A624-016002DB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9562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/api/employee/check-in untuk mencatat kedatangan.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FF688-E464-4C2C-B051-865B169E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A46811-372C-4D7E-A6D6-EA7AD6EC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/api/employee/checkout untuk menyelesaikan transaksi.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DC4E1-E810-480F-96B7-39A0B6F2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29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30DEAB-C20E-491A-BB8C-59F3A610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5287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GET /api/owner/reports/summary untuk laporan pemilik.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545FD7-BEE7-440C-89EF-8B2F597C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Swagger hanya diposisikan sebagai dokumentasi endpoint, bukan fokus pembahasan utama.</a:t>
            </a:r>
          </a:p>
        </p:txBody>
      </p:sp>
    </p:spTree>
    <p:extLst>
      <p:ext uri="{BB962C8B-B14F-4D97-AF65-F5344CB8AC3E}">
        <p14:creationId xmlns:p14="http://schemas.microsoft.com/office/powerpoint/2010/main" val="1111950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9A781-326E-4B4E-81D9-DA2232A7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01CAE-59B2-4F53-A7B2-A7D1EC5E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CE5F4-A4F3-4405-96DF-ED18FCFC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ALUR PROSES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33E3B-D5DF-47C6-ACE4-F61E454A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F1E80-8F27-4A4C-9CA9-C75121AA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9DE59-CBBC-4A4D-A609-9769940C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Alur inti bergerak dari kedatangan hingga laporan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2BF26-8009-41DE-9F9B-10153D9B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EF9B5-CAF8-4B33-87CC-49B36CDA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14475"/>
            <a:ext cx="31623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a07fd63ba4b13"/>
          <a:stretch xmlns:a="http://schemas.openxmlformats.org/drawingml/2006/main"/>
        </p:blipFill>
        <p:spPr>
          <a:xfrm xmlns:a="http://schemas.openxmlformats.org/drawingml/2006/main">
            <a:off x="7096125" y="2415702"/>
            <a:ext cx="3143250" cy="231234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5D7D7-BDF7-4D08-AFBF-F2281308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695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22. Activity Diagram Checkout Transaksi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8F5DC-FDF3-47ED-9CF5-1E1FAF05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96774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1341A-3192-4098-BD8D-7D4EA509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9677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05035-CED6-4EEF-9C38-C57E10D7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739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Check-in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A0BDB-9DFD-4F08-B39C-2C6914E6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040" y="2590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E662A-AE62-4821-A135-CA097B09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2333625"/>
            <a:ext cx="96774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23148-380C-40C4-883A-AF372EA2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2333625"/>
            <a:ext cx="9677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729F0-9422-40BE-8787-9A5B35B8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740" y="2562225"/>
            <a:ext cx="739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Pesanan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EE771-0DDC-4822-A5E5-12E9C9BB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230" y="2590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7A9E97-0DDF-4BA6-B515-63BC05CA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630" y="2333625"/>
            <a:ext cx="96774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B5A6D-5FB4-44A8-83F1-A7BC2F1D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630" y="2333625"/>
            <a:ext cx="9677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DC79C-CBF5-4635-B7F5-34BEE7A4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2562225"/>
            <a:ext cx="739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Checkout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DD3B5-AC9A-4187-9F33-DDB4DE33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420" y="2590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B3B37-E015-4B63-ACFD-7C3977A7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820" y="2333625"/>
            <a:ext cx="96774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9C787-317F-4B6B-BA78-3BC7E720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820" y="2333625"/>
            <a:ext cx="9677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E9E51B-97F4-4F1B-8A6D-54BDFFA6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562225"/>
            <a:ext cx="739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Update stok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CB978D-2CA5-461C-80F1-15701118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590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7DEA05-FDC6-4671-B8FD-5C9D7146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010" y="2333625"/>
            <a:ext cx="96774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D37D4D-3A8B-400A-91D6-0A71B2D1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010" y="2333625"/>
            <a:ext cx="96774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4785B8-573B-480B-B414-301E6388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2562225"/>
            <a:ext cx="7391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Laporan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1C1517-D1B1-48C4-AAA8-9F46A8D6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824236-7493-4C4E-821E-566A8CB7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503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Pegawai mencatat kedatangan member atau tamu.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858427-1169-4477-B010-C8186D70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4A9115-18FB-40F9-BA32-4F5D1AEE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503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Pesanan menu/rental disimpan sebagai pending order.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8F759D-CBE1-48B3-9D91-3A4C1D38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A93097-69DD-45E3-8D6E-E1880730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503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Checkout menghitung ikan, menu, rental, diskon, voucher, dan pembayaran.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56AEE7-8100-4BD4-820B-5B85B47E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2EBFF1-0FDD-4844-A6FA-0340D8DE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5038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Transaksi memperbarui stok, poin member, riwayat, dan laporan.</a:t>
            </a:r>
          </a:p>
        </p:txBody>
      </p:sp>
    </p:spTree>
    <p:extLst>
      <p:ext uri="{BB962C8B-B14F-4D97-AF65-F5344CB8AC3E}">
        <p14:creationId xmlns:p14="http://schemas.microsoft.com/office/powerpoint/2010/main" val="21145048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4D0201-1C8B-4284-BB54-BCFDBC0D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A716B-ECF6-42F0-818F-85033DC4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DC7F3-3EB1-4142-A2F2-88AAB46F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ARSITEKTUR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4C412-42C9-4A9C-AA9D-4C973F08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EAEBF-CACA-4BAC-9D19-1D4D4DFB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67FA9-A53D-4A3E-9028-3B93F645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Back-end menjadi pusat integrasi antara UI dan data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F6519-4950-4F34-8B23-F0426901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27953-B29F-4C09-A168-154553E4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6056E-123C-4870-9D0F-DAA93799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A02AF-3519-4313-904A-8F7702DA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Prototype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4E744-B98A-4D04-864C-70592BFB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91E14-DA7A-419A-8FD6-863838B9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05DCB-B926-4CE3-94D7-24F84C84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567B1-969D-4EC7-A7C2-36A5B9C6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REST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3EFF1-D060-4348-A379-9DF65D0B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53359-B0BD-493A-86C0-B78D4747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8F556-00F5-47B3-A1B7-AD243676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225DF-B804-4DBC-AD82-C472FB2E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Laravel Controller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7D2AA-479B-483C-B948-3C70657D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81509-0C81-4024-8EDA-E1ED1CB9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28A9E-E85E-42E0-AC60-A7BD4F6E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5C7650-87E2-4F2F-BF59-A104F43B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F3EBE-4240-4D10-84C0-7D4C26D1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16E502-F4E1-401B-BEF4-A4259875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Frontend mengirim request untuk login, member, kedatangan, pesanan, checkout, dan laporan.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DC98BF-68F5-4414-8848-1769C2FB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95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B8CEFA-5BDA-417E-BC14-10DB1684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196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REST API menjaga format komunikasi data dalam JSON.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842E9F-4C72-4117-BB16-BEDF8FCD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14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30E764-1B20-462A-B09E-0B682F0A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387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Laravel memproses autentikasi, validasi, role, dan logika bisnis.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49F385-559D-4EFF-BB7E-801E0009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276477-B1A1-4142-9644-58323DD9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578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MySQL menyimpan data operasional sebagai sumber data terpusat.</a:t>
            </a:r>
          </a:p>
        </p:txBody>
      </p:sp>
    </p:spTree>
    <p:extLst>
      <p:ext uri="{BB962C8B-B14F-4D97-AF65-F5344CB8AC3E}">
        <p14:creationId xmlns:p14="http://schemas.microsoft.com/office/powerpoint/2010/main" val="4788907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432661-3521-4941-B8F2-AD7719CE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0E8C5-6B7C-4DB7-93C8-0A4751E6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A01E2-E56C-42B4-A7BD-C3AF4F15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TEKNOLOGI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0403D-EA49-45CF-ACAE-B979514D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00063-BB12-4844-B0A8-BA46E7D3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00AFA-F012-4D8A-932F-81E479C6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Teknologi dipilih untuk back-end API yang terstruktur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EA831-AE2A-4C2C-BEF4-99C24339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A5E3E-B384-4565-901A-66481AEB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14475"/>
            <a:ext cx="20193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3addd7d824e76"/>
          <a:stretch xmlns:a="http://schemas.openxmlformats.org/drawingml/2006/main"/>
        </p:blipFill>
        <p:spPr>
          <a:xfrm xmlns:a="http://schemas.openxmlformats.org/drawingml/2006/main">
            <a:off x="8527872" y="1524000"/>
            <a:ext cx="1518005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BC6FD-E7B8-45EB-B33B-1350ACC0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95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58. Struktur Folder Controller Laravel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B13F3-F269-41DC-AAE2-A5E64643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6172C-3FB1-4FC4-950A-B06E2503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B233C-4376-4F29-B464-74B1F7B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Laravel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66B83-ACA0-4E2A-AF71-C9CB4E18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Framework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1BEC6-294B-4F3A-AF4B-F7AFC1C6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6BD60-CF92-4DB8-AA2E-2F3C70D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99963-F670-4395-96FA-95D008D6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MySQL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C995A-E29F-4DEE-B847-3A21D916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C6C302-96D3-4D4D-930E-D43D8F42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E89EE4-9985-4FCD-A7AD-9E9A7732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99D10-9350-49C7-925C-5DBD649E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Sanctum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A0FCE-A128-43B0-ACE7-8F6AA787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Keamanan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C462D-0790-46C2-8E1E-9182B1C7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631747-C29B-4184-B8AA-CB049096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C4251E-FF4A-4960-809D-B3B19F44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86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REST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8BF8D-E29F-48AE-AE0B-47422FE4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Komunikasi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DF496-F6B9-4B5E-91AE-98604FA9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Controller dipisahkan berdasarkan domain agar logika autentikasi, member, operasional pegawai, dan pemilik lebih mudah dipelihara.</a:t>
            </a:r>
          </a:p>
        </p:txBody>
      </p:sp>
    </p:spTree>
    <p:extLst>
      <p:ext uri="{BB962C8B-B14F-4D97-AF65-F5344CB8AC3E}">
        <p14:creationId xmlns:p14="http://schemas.microsoft.com/office/powerpoint/2010/main" val="4341242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909727-FBCF-447D-BBFA-2A29E745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8BCF8-96AA-4F80-BBE1-FF8D6137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7B7EA-1E0E-435A-9707-F50885FB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IMPLEMENTASI DATABASE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27792-E2CE-4263-8F27-D0924E61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6FA75-3314-4760-A348-386A475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FB919-9082-4C45-88CA-31F5C5DE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Implementasi MySQL menghasilkan 27 tabel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2A629-082D-4765-A29F-3F1E8B85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FE9B4-2C47-409C-9E2D-A1211A43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14475"/>
            <a:ext cx="4114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9881e3e1140f9"/>
          <a:stretch xmlns:a="http://schemas.openxmlformats.org/drawingml/2006/main"/>
        </p:blipFill>
        <p:spPr>
          <a:xfrm xmlns:a="http://schemas.openxmlformats.org/drawingml/2006/main">
            <a:off x="6334125" y="1814116"/>
            <a:ext cx="4095750" cy="351551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B0288-0C67-4F9F-BE4D-A085DE48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95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40. Daftar tabel pada database pemancingan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C8ACE-8938-4E6C-95A0-4C08CDA7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0F2EA-BF45-442B-9B86-3FADB430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70D3E-8CDF-4880-91BB-FBBDAC37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EFF2F-1526-49E6-968C-7332C779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Total tabel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1397F-83C5-4B14-ABA1-C5AED16F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BE6DB-4AE9-4504-8388-893C9694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954DD-2777-4B43-BA78-AD12DB56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C4852-BA3A-4C79-9600-C02052B7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Tabel utama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A3353-AE92-4632-B430-6722780A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69297-CA5A-499E-A262-DCD83190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DA4C62-C665-4E22-9F81-DD2AF983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C4361-81BC-4A77-9FA9-5DF51187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Tabel pendukung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796F31-D392-4774-891D-C3FB82A9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57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0F9C9-DBFC-4291-AF52-568459B5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813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Tabel utama menyimpan domain pengguna, member, kedatangan, transaksi, stok, menu, voucher, event, dan konfigurasi.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DC1C50-9D2E-44D8-88CC-A87770D9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43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4624EA-C49D-4F21-B625-0B19A52A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671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Tabel pendukung berasal dari Laravel untuk migration, token, session, cache, dan job queue.</a:t>
            </a:r>
          </a:p>
        </p:txBody>
      </p:sp>
    </p:spTree>
    <p:extLst>
      <p:ext uri="{BB962C8B-B14F-4D97-AF65-F5344CB8AC3E}">
        <p14:creationId xmlns:p14="http://schemas.microsoft.com/office/powerpoint/2010/main" val="16508881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30E77B-14BE-40DD-9CA6-7A857FC5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C1FE2-AFC3-4880-ADD2-D1004FCB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AA07A-8ACC-493B-B423-6915D470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AUTENTIKASI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DF383-2807-43AA-92F7-EA8086C3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31784-D32A-424A-9EFD-41C5EEF6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9C7C1-1138-49D3-BD2E-7DBA89B9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Sanctum dan middleware role menjaga akses tiap pengguna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3C326-9EE9-475B-BCC1-D91495EA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17AE0-C155-48B7-B957-C67A0735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24258e3064e29"/>
          <a:stretch xmlns:a="http://schemas.openxmlformats.org/drawingml/2006/main"/>
        </p:blipFill>
        <p:spPr>
          <a:xfrm xmlns:a="http://schemas.openxmlformats.org/drawingml/2006/main">
            <a:off x="590550" y="1800927"/>
            <a:ext cx="2476500" cy="182739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CD96F-87F1-49B3-AB5B-51243FC1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59. Login dan token Sanctum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B2C61-6779-4D77-8C4E-07E70A6D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65ddf1c5e412b"/>
          <a:stretch xmlns:a="http://schemas.openxmlformats.org/drawingml/2006/main"/>
        </p:blipFill>
        <p:spPr>
          <a:xfrm xmlns:a="http://schemas.openxmlformats.org/drawingml/2006/main">
            <a:off x="3333750" y="2123524"/>
            <a:ext cx="2476500" cy="1182203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1F4A5-5874-44AE-805A-2999024A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64. Middleware CheckRole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E20B8-A927-4CF2-8CC7-D1D6F5CE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5cf69e5d64aa9"/>
          <a:stretch xmlns:a="http://schemas.openxmlformats.org/drawingml/2006/main"/>
        </p:blipFill>
        <p:spPr>
          <a:xfrm xmlns:a="http://schemas.openxmlformats.org/drawingml/2006/main">
            <a:off x="6076950" y="2382253"/>
            <a:ext cx="2476500" cy="66474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71442B-AB1E-4FE5-921E-DF9745C0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65. Alias middleware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13B48-D7C6-4EAC-A1BE-91AAB87D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c641df2d64bb0"/>
          <a:stretch xmlns:a="http://schemas.openxmlformats.org/drawingml/2006/main"/>
        </p:blipFill>
        <p:spPr>
          <a:xfrm xmlns:a="http://schemas.openxmlformats.org/drawingml/2006/main">
            <a:off x="8820150" y="1671888"/>
            <a:ext cx="2476500" cy="2085474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71B7B-4B02-4F8F-8CD2-7D1150F5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66. Route group API berdasarkan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2961F-BA8B-4A5F-B351-74464819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03061-3A16-46FA-BACA-6FC77BFB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Login membuat token akses untuk request API berikutnya.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82CF1-E5DA-4929-8645-A6CC5314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F93275-6C98-4669-BABB-F9093C92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Middleware CheckRole membatasi akses berdasarkan Owner, Employee, dan Member.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2071E-0F17-4D5B-B6B0-053C7BBD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821269-C240-4FE5-AF7A-250BC591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8640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Route group mengelompokkan endpoint sesuai tanggung jawab aktor.</a:t>
            </a:r>
          </a:p>
        </p:txBody>
      </p:sp>
    </p:spTree>
    <p:extLst>
      <p:ext uri="{BB962C8B-B14F-4D97-AF65-F5344CB8AC3E}">
        <p14:creationId xmlns:p14="http://schemas.microsoft.com/office/powerpoint/2010/main" val="4800747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0D5219-9C57-4CDB-AB72-777F4A4A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050D6-D20B-4554-A553-93DE3194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AD119-6C34-49CC-AFBF-9594711C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LOGIKA BISNIS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FFA14-923E-462F-ACE1-F16BC25E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86A6D-26C8-421D-83A6-954AD2F7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67B4F-3847-4C9C-8EB6-068EED87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Controller menangani alur operasional, bukan sekadar CRUD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25590-36B2-4C4F-BB8C-52A9B4AB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49DA-53A9-49D0-8364-79A759AE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da678e166471f"/>
          <a:srcRect xmlns:a="http://schemas.openxmlformats.org/drawingml/2006/main" l="4493" t="0" r="44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B9BA0-806A-4A7E-835F-E680C333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60. Check-in pelanggan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8EF9D-B18A-4E4D-93DD-0F38B69B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11729d1d44915"/>
          <a:srcRect xmlns:a="http://schemas.openxmlformats.org/drawingml/2006/main" l="0" t="8520" r="0" b="85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427ED-1E6D-4AA3-86AF-616D2A0F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61. Validasi checkout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E7465-A546-48AF-97C4-57B84C0E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815410fcf4cb0"/>
          <a:srcRect xmlns:a="http://schemas.openxmlformats.org/drawingml/2006/main" l="0" t="425" r="0" b="4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53F33-64D3-4F03-9218-02E1F9E5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62. Perhitungan pembayaran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43125-89BE-4425-AD87-8300877A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bb132322d4bf5"/>
          <a:srcRect xmlns:a="http://schemas.openxmlformats.org/drawingml/2006/main" l="0" t="21375" r="0" b="213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684A9-B0D2-43CD-8943-4ACBA227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63. Update stok dan member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D01E8-C3BE-453E-A5ED-80593ECA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5AF1B-A38A-445A-96CB-AE27EF63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0125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ArrivalController mencatat pelanggan member/tamu dan status kedatangan.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6D3D0-B28D-4F25-8157-3C25CFF4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5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69AA33-C67A-48E7-AB10-DE916F29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29225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TransactionController memvalidasi checkout, menghitung pembayaran, memperbarui stok, serta poin member.</a:t>
            </a:r>
          </a:p>
        </p:txBody>
      </p:sp>
    </p:spTree>
    <p:extLst>
      <p:ext uri="{BB962C8B-B14F-4D97-AF65-F5344CB8AC3E}">
        <p14:creationId xmlns:p14="http://schemas.microsoft.com/office/powerpoint/2010/main" val="19730808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C1BB77-C2F3-4FE7-9442-E84D09E6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2F939-DAC3-4B72-9122-D70C8D71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B911A-13FB-49E3-8F3A-DCB0AEDC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ENDPOINT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26205-BD9E-4D4E-B61B-A77109FE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77239-E825-4799-9A15-74BE70E5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844EC-38EC-468E-B56D-DE49961B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Endpoint utama mengikuti alur kerja tiap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B2CB4-AF54-40BC-A341-F43B97A0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9E33A-A06D-4204-B03C-946E6463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F6575-6564-4344-8F2E-5A79C0D2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4E891-8855-4D0D-B3F6-E5D316AB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Public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EABB0-1AE3-4FEE-A370-B0C6412E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62BA35-AFEF-45A9-BF34-74565203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66516-0844-4639-B0D7-1AB3F51D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1C0B7-7D79-4CAA-9410-0F017C86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Member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A3333-8196-46C0-ADD8-F69A7A85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ABB96-007E-4C9D-9B38-CAB88AC6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AA22D-4125-44C3-BCAA-798FAF1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E1BA8-1910-4B50-8810-898F72D0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Employee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8BAD0-3A01-467B-9997-25B844BA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1E2B7B-45B1-45DF-B621-A4CB317B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5EC73-1300-4544-BF9A-15841A73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BB6FD-D16C-4A4B-8CF7-9EDE8872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9E2EF1-9371-4D77-AE3E-DF253C81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59F35-0E2A-44E6-B59E-404A187B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385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Public: leaderboard, event, informasi, dan menu spesial.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DD5E96-9A83-49C3-A2E4-63B23104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7D7EDF-D790-4646-991A-CF9CF641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338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Member: register, profile, dashboard, pesanan, riwayat transaksi.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BB7C7-9724-4107-BC92-BB63AF93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5ABE86-AA1E-422A-9CCA-01777A27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291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Employee: check-in, kedatangan hari ini, pending order, checkout, stok.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4BE42-A335-469E-B2F4-6F913450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6AEE5E-F854-454D-B68B-C4094A88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Owner: laporan ringkas, member, menu, ikan, voucher, konfigurasi.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8BBC04-7C5F-4CC7-927B-B587EFA0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Pembahasan Swagger diringkas pada fungsi dokumentasi endpoint.</a:t>
            </a:r>
          </a:p>
        </p:txBody>
      </p:sp>
    </p:spTree>
    <p:extLst>
      <p:ext uri="{BB962C8B-B14F-4D97-AF65-F5344CB8AC3E}">
        <p14:creationId xmlns:p14="http://schemas.microsoft.com/office/powerpoint/2010/main" val="1503118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A22D13-B768-45A7-B230-12E86444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C765C-66E8-465C-AC8D-BC87E073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6C626-F7C7-4DD9-BEDD-19AE519D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INTEGRASI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8D7D1-F927-445C-BC61-B14151A9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A2F94-F6E2-415B-AAFD-06119073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C576C-E84B-4F47-B629-88F18F9C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Prototype antarmuka membuktikan API dapat dipakai lintas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B41BB-DCD3-41FE-B91B-98D09C1C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874C7-842C-4DE1-8D5D-24D5B718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57350"/>
            <a:ext cx="17335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c7ef07f2648d8"/>
          <a:srcRect xmlns:a="http://schemas.openxmlformats.org/drawingml/2006/main" l="0" t="24331" r="0" b="2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66875"/>
            <a:ext cx="1714500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CBB9A-CE37-4F69-BF05-88AF716D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76. Halaman utama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4CEA1-A221-43C5-AEB0-599E5FBB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698758ab443f8"/>
          <a:srcRect xmlns:a="http://schemas.openxmlformats.org/drawingml/2006/main" l="15796" t="0" r="157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9375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864E2-F3CC-4382-96F9-E0AF04C6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78. Dashboard member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0A001-A4EB-4F3B-8BEE-7E592679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a877284ce4e58"/>
          <a:srcRect xmlns:a="http://schemas.openxmlformats.org/drawingml/2006/main" l="5450" t="0" r="54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95C41-D7C1-4D0A-9E36-3D63ECF3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82. Dashboard pegawai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BCA4A-ADD6-4D5C-843C-9A26DBC9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39992d7d446a9"/>
          <a:srcRect xmlns:a="http://schemas.openxmlformats.org/drawingml/2006/main" l="0" t="5438" r="0" b="54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6125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61B18-F5D8-416B-991C-FB4F47F9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92. Dashboard pemilik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CC687-2913-4935-AC11-C2695364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657350"/>
            <a:ext cx="17335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d079b55154149"/>
          <a:srcRect xmlns:a="http://schemas.openxmlformats.org/drawingml/2006/main" l="0" t="674" r="0" b="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0" y="1666875"/>
            <a:ext cx="1714500" cy="25717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2DB6F-25CA-415B-A963-477E4EDE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14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96. Laporan keuangan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05166-0594-4DED-BBAB-2C6D2D6F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348F50-74D4-40CF-97B9-F2B02E0E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577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Data publik, member, pegawai, dan pemilik mengambil sumber dari layanan back-end.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079D67-4EC1-410D-8131-B829462F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95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E52D5E-74AE-463D-BF27-FEE8F01A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970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Setiap tampilan menguji hubungan API dengan data operasional yang sama.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8677C7-7351-45E0-AFCA-EA58F4CB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57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D5081-06C6-42F4-9ED1-347B9A16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816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Integrasi menunjukkan dampak pada informasi pelanggan, pesanan, transaksi, stok, dan laporan.</a:t>
            </a:r>
          </a:p>
        </p:txBody>
      </p:sp>
    </p:spTree>
    <p:extLst>
      <p:ext uri="{BB962C8B-B14F-4D97-AF65-F5344CB8AC3E}">
        <p14:creationId xmlns:p14="http://schemas.microsoft.com/office/powerpoint/2010/main" val="2898334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437129-574C-4458-A132-DEC60520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EAAEA-615D-4AC2-B0FC-3403CA7B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CCA6E-56E9-443F-8E1F-15BC07A5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ITERASI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58AF8-8689-4770-83E3-65270890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2D3C8-D2DC-4AD0-B8E0-8FC046A2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7B2A3-4208-4244-9B9F-AB49494A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Masukan pengguna menghasilkan perbaikan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EA082-DFD5-4232-982E-FD3893CE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CB916-21F8-4F8E-9F26-BE1A0CFE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28775"/>
            <a:ext cx="2019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fe6d9632840be"/>
          <a:srcRect xmlns:a="http://schemas.openxmlformats.org/drawingml/2006/main" l="11062" t="0" r="110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38300"/>
            <a:ext cx="200025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CCAFC-6A71-40CD-B6B4-C3AEA22C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98. Tambah pesanan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749C8-FC63-4BC3-BD1E-73AD9C49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28775"/>
            <a:ext cx="2019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f31d78a29440b"/>
          <a:srcRect xmlns:a="http://schemas.openxmlformats.org/drawingml/2006/main" l="7813" t="0" r="78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05125" y="1638300"/>
            <a:ext cx="2000250" cy="1333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ACF16-4ED2-460D-897E-6FEE97A0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48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99. Pesanan masuk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92253-368A-49BD-A465-BFFFB110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28775"/>
            <a:ext cx="2019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91cbb428848f5"/>
          <a:srcRect xmlns:a="http://schemas.openxmlformats.org/drawingml/2006/main" l="13437" t="0" r="134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4450" y="1638300"/>
            <a:ext cx="2000250" cy="1333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62F2F-A320-44FC-B3BC-73FB7686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100. Batal pending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F8E62E-B8D2-4AFF-8CEA-A035AF52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28775"/>
            <a:ext cx="2019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262c8491b48d4"/>
          <a:srcRect xmlns:a="http://schemas.openxmlformats.org/drawingml/2006/main" l="13615" t="0" r="136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43775" y="1638300"/>
            <a:ext cx="2000250" cy="1333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83F778-F7F5-4983-BC62-E0A0AF9C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48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101. Menu spesial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C85BB-3DDC-4C42-9CA9-BCA3AD63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628775"/>
            <a:ext cx="1828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fa3286b1e4828"/>
          <a:srcRect xmlns:a="http://schemas.openxmlformats.org/drawingml/2006/main" l="16181" t="0" r="161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63100" y="1638300"/>
            <a:ext cx="1809750" cy="13335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6E3DAA-2236-4E88-833A-1973F070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480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102. Popup menu spesial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C1F4D-DD10-4C51-AE37-B134FF82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7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FE7F9-39B2-4E32-A884-6C539B2D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00500"/>
            <a:ext cx="889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Role pegawai diperbaiki pada status pesanan dan pembayaran.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FD1E06-A14F-40B8-BDFD-19DBCA2B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76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0BFF24-50B3-4B65-974B-EB33EBBC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400550"/>
            <a:ext cx="889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Pending order dapat dibatalkan sebelum checkout.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E0218F-8B3F-47EC-B348-813C7783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76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F4937C-A472-4CD8-9791-DC088816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00600"/>
            <a:ext cx="889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Nota transaksi disediakan setelah pembayaran berhasil.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4EFC61-15D5-459E-86D4-304743EC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76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DDB1EC-7174-4C67-BE86-1A836CBF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200650"/>
            <a:ext cx="889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Menu spesial dari pemilik muncul kembali di halaman member dan publik.</a:t>
            </a:r>
          </a:p>
        </p:txBody>
      </p:sp>
    </p:spTree>
    <p:extLst>
      <p:ext uri="{BB962C8B-B14F-4D97-AF65-F5344CB8AC3E}">
        <p14:creationId xmlns:p14="http://schemas.microsoft.com/office/powerpoint/2010/main" val="8809142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00D7F4-823A-4C4E-86D2-0974050D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883DF-D7F2-48EB-893B-FE3B6DFD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F5BFA-BCE0-4072-BB26-5A07C504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DAMPAK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342D1-E1B5-415E-BE63-79F847B9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C9CAE-EACD-4F10-944C-2B5C9174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C2A28-FE2C-4B49-8E35-31DAAFCF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Implementasi menjawab pain point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7ED47-7F38-487F-8495-A41FCE07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748A3-9A68-4211-BE32-361FC445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777FE-591A-4391-879C-58D294F2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EB6CA-CCD7-4EF9-9C94-D84F09D1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DA073-1B8B-4445-ADEB-A6EF54B2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E6FC7-4BE2-4B4D-BB1B-17CBE470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Sebelum Implementasi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DE5F8-3D9B-4D7B-8241-EE675094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Setelah Implementasi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3063C-6E7B-47C5-8190-7A1B35C1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2006E-3598-4598-AB69-9C6D7321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dicatat dua kali dan tersebar.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D3751-F09F-4218-95CC-9438BD6C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5F9A9-DE87-48D8-BAA3-DAE65C63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 dikenali dari hafalan pegawai.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F1454-FDC2-47BD-91EE-5FAA57C1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276D2-6530-4E85-8E20-1BB4D560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Stok dan transaksi tidak otomatis saling mempengaruhi.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741C1-966C-4C13-9D4C-12609027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A3810-3B67-4073-8388-FC4AA4DC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Laporan menunggu rekap manual.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2AA0AA-E6AE-44CD-B9F1-B80F5090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CE218-FCB6-4ABE-9423-3D1944D9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Satu basis data menjadi sumber data bersama.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A72077-CE91-4669-A021-761B4EEB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3A469-53A8-4523-937B-424B45CC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 dicari dan divalidasi oleh sistem.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89DD84-79F3-45F2-8A77-DFEAFD28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F9B8B6-6DF9-4021-8926-81CAE71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Checkout memperbarui stok, poin, tier, dan transaksi.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0FF6D9-A883-4A0A-AE1E-E257686A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61FFD7-F5CB-4205-8846-443699DA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671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Dashboard dan laporan memakai data operasional terkini.</a:t>
            </a:r>
          </a:p>
        </p:txBody>
      </p:sp>
    </p:spTree>
    <p:extLst>
      <p:ext uri="{BB962C8B-B14F-4D97-AF65-F5344CB8AC3E}">
        <p14:creationId xmlns:p14="http://schemas.microsoft.com/office/powerpoint/2010/main" val="16987577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B09AAC-36A4-4105-ABBD-ED928A65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47B54-F100-450E-8817-2D10E1CB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4C345-BD0A-4F32-9A38-384F6618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DEMONSTRASI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8D7EA-6385-43BC-8F36-322AFDDE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672CC-EDB2-4809-A340-B08EE9BE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AF652-D8AD-4871-814B-C4AF287C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Demo mengikuti alur Employee -&gt; Member -&gt; Employee -&gt; Owner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6908D-2EB6-452E-8D64-7D1EC91C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02BAC-BD13-469D-A2D0-C1D4492F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47825"/>
            <a:ext cx="2400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5936292d94d34"/>
          <a:srcRect xmlns:a="http://schemas.openxmlformats.org/drawingml/2006/main" l="9719" t="0" r="9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57350"/>
            <a:ext cx="2381250" cy="1428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CC163-BB15-470A-A091-2291D4C6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Employee: validasi member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52B31-602B-45D0-81A1-94C10859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47825"/>
            <a:ext cx="2400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9fbe28f344437"/>
          <a:srcRect xmlns:a="http://schemas.openxmlformats.org/drawingml/2006/main" l="8777" t="0" r="87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1657350"/>
            <a:ext cx="238125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63EF1-14AD-4D71-9549-B842704C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Member: membuat pesanan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2ACD9-E8FD-4A6A-A567-839ED438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47825"/>
            <a:ext cx="2400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100f534c54c82"/>
          <a:srcRect xmlns:a="http://schemas.openxmlformats.org/drawingml/2006/main" l="0" t="15088" r="0" b="150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57350"/>
            <a:ext cx="2381250" cy="1428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69B28-52E6-4C41-897D-B8BC927E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Employee: checkout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1F704-1A42-4E02-9F59-9F799F2E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647825"/>
            <a:ext cx="2400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9bf27605842ea"/>
          <a:srcRect xmlns:a="http://schemas.openxmlformats.org/drawingml/2006/main" l="0" t="12568" r="0" b="12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1657350"/>
            <a:ext cx="238125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7FB1E-C342-486A-9082-D0DDC50E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Owner: monitoring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1143B-456A-4FF4-BD43-F05A1852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95750"/>
            <a:ext cx="20145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E8726-6F76-40C2-82C3-5DD18355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95750"/>
            <a:ext cx="20145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CB8EE-CA1D-4CFC-9358-CC62BB52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324350"/>
            <a:ext cx="17859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Check-in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EA43F7-3250-4452-A5CC-FD888410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43529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CF8A7-5FD4-4205-BCE6-13D24DC1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095750"/>
            <a:ext cx="20145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22C8D4-A8F8-42EB-98F8-5DC0C488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095750"/>
            <a:ext cx="20145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D9D51-F65D-4518-9E9B-452B61C9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4324350"/>
            <a:ext cx="17859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Order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971E88-A0E6-422A-9B5B-AE672A59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529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4C1A40-FDBA-4D66-8026-316702FB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20145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DF1D5-3D07-4083-AC78-5B1F44E8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95750"/>
            <a:ext cx="20145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FD7C27-AB81-4608-91B5-907E8EB4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24350"/>
            <a:ext cx="17859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Checkout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0D6450-1233-4017-B921-2F9771FC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43529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19B37A-1983-4FBC-9D83-01CCEB05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4095750"/>
            <a:ext cx="20145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1EDA6B-B4B4-4BB5-B8CD-8AE168B2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4095750"/>
            <a:ext cx="20145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A304CE-7CA6-46EA-8BE0-C4560029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8638" y="4324350"/>
            <a:ext cx="17859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207809-4D6D-4FAB-997A-AF264042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EABB18-5F1E-461A-AB54-4E79A0E5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34000"/>
            <a:ext cx="832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Alur demo menunjukkan data bergerak dari operasi harian menuju laporan pemilik.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865314-F651-4A37-BF13-99E325DA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72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60A9B7-2C04-4A4C-BA8C-7E26509A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95950"/>
            <a:ext cx="832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Setiap langkah menggunakan endpoint back-end yang terhubung dengan basis data.</a:t>
            </a:r>
          </a:p>
        </p:txBody>
      </p:sp>
    </p:spTree>
    <p:extLst>
      <p:ext uri="{BB962C8B-B14F-4D97-AF65-F5344CB8AC3E}">
        <p14:creationId xmlns:p14="http://schemas.microsoft.com/office/powerpoint/2010/main" val="16230720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DFA0D8-5B97-4F57-96FF-758D77FD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D8F93-5A6F-4C90-8E84-E7A455E6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3B14A-0F70-4FAC-9479-14B7AC4F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PENGUJIAN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B860C-B6E5-4DC8-9B35-35E9C876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982BD-6A58-4AF1-8114-D35FD59C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88385-FBDE-4F9E-9130-13E5838C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Black Box Testing membuktikan fungsi utama valid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E56B4-3EB7-427A-A148-30F60EF4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EC86E-3E3C-467C-A665-4CBC64D3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E3CBB-8C99-4CAF-A223-F1CCB073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EAAD5-3F70-4557-876B-EFE7A952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2352A-5ECF-4A9C-80D9-3587BFF6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Total test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707A8-44F7-4362-A45E-F1699F4F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527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71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F6F65-D4DF-417B-B85D-925BC0E8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836B6-DD07-431A-9BA5-95CD16A7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67C22-A8CA-4BAD-9446-AE7F1361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6A63B-9772-4D6C-B132-AA685537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Status valid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4880E8-2845-4C98-8B68-79905DC3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527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F2181-7874-4EB2-9A4F-39F939CD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F1986-6BF0-4300-AC8C-DE32DF37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E389D-9F79-4095-B564-FCF80474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3F655-C214-4A40-95A1-63A5981F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Status tidak valid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F2A39C-7C2A-453A-82BE-723AD79D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D5C085-EC98-48E8-A5CD-868E0ED6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Login dan autentikasi: 10/10 valid.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36A16-1803-4A09-9575-74293C71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9065C2-77FE-4A47-9CD6-B0358F53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Halaman utama: 7/7 valid.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0C0809-ABEC-4C3A-B03A-3242D945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73A20A-06C4-44E8-AE33-F3278B93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76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Member: 16/16 valid.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D0608A-13F1-4393-85E9-5AABD0D1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78F542-880C-4294-A692-32C9E61D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Employee: 42/42 valid.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493C38-37DE-4321-A62B-74E05527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14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A0F44C-10FC-46B3-8916-80394B77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38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Owner: 30/30 valid.</a:t>
            </a:r>
          </a:p>
        </p:txBody>
      </p:sp>
    </p:spTree>
    <p:extLst>
      <p:ext uri="{BB962C8B-B14F-4D97-AF65-F5344CB8AC3E}">
        <p14:creationId xmlns:p14="http://schemas.microsoft.com/office/powerpoint/2010/main" val="3114780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ADEBCA-2F2D-4600-B0BF-536694EA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89636-AE09-4E61-A87C-8D2C0FFD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85789-1C78-4283-A58E-BDBC67EC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EVALUASI USABILITY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EE408-61BB-405E-8F82-80152270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0C96C-1EB0-499A-B9F7-D6A53ECA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0D14F-BF1D-4F54-A648-577E4787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SUS menilai penerimaan alur sistem terintegrasi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B0621-2957-471D-A5B6-DE1A51EE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A6693-9107-4A1F-90AC-84E7B623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8C69E-E4BA-43AC-A988-6B64AA6B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690E8-B817-4D4C-9B5F-FD7036B2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6E7B0-54F5-440C-A9A5-F691D666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Responden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D3D6A-A441-4F2A-A357-1E8FD867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 owner, 1 employee, 5 member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5D18E-B4B9-4641-922B-18CF731D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0975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3730B-DE12-417E-BF05-7DA7DBBF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37E8B-4E45-4459-BE99-40EC0490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621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0A05D-17BB-4F11-B877-C30C297F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57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Pertanyaan SUS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1A2C5-C10E-4CA6-A1EA-DFF1B2C7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D78C9-C9A2-437F-8995-A8934148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DE824-AF38-40CF-8BA8-EAF4F84A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13 Juni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4D91D-83D8-475E-84B0-A1FE69C5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Tanggal uji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34FC6-2460-4332-BBA8-1EF39D0C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2FC2D-BDBB-48CB-B6AC-CEBB9140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19500"/>
            <a:ext cx="832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Responden menjalankan skenario sesuai role sebelum mengisi kuesioner.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3CDEE2-5458-44ED-944A-F864FB07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862C2-8280-4771-9DC0-43C8CB6C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6700"/>
            <a:ext cx="832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Owner berfokus pada pemantauan operasional, data, dan informasi bisnis.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08EEA6-B170-4B41-9A5A-BBA56242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4ECBFB-A0FF-42D3-A240-ED769552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33900"/>
            <a:ext cx="832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Employee berfokus pada kedatangan, pesanan, dan pembayaran.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A24B9D-BC8C-4684-A32A-A4B17372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CE9147-1DC1-4191-8BBD-C4F6E8F5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91100"/>
            <a:ext cx="832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 berfokus pada akun, pemesanan, riwayat, dan leaderboard.</a:t>
            </a:r>
          </a:p>
        </p:txBody>
      </p:sp>
    </p:spTree>
    <p:extLst>
      <p:ext uri="{BB962C8B-B14F-4D97-AF65-F5344CB8AC3E}">
        <p14:creationId xmlns:p14="http://schemas.microsoft.com/office/powerpoint/2010/main" val="169231518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73840C-F852-496D-BF4A-514F3DC9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20D9F-9FE1-4A2E-B7D6-B7F86D6E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0039D-EA97-4863-B45C-F3C3806F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HASIL SUS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E316C-C64F-430E-BAA9-E4E4D1DC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4579F-48AC-49FB-A624-E89D4EC8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458C3-AD5D-4B78-9D06-46D807A1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Skor SUS 89,6 menunjukkan sistem diterima sangat baik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DD89F-85AE-4E42-8615-9D9F5DCF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51EFA-FD34-4E02-A99C-F398EC82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00225"/>
            <a:ext cx="630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1255b466b438f"/>
          <a:stretch xmlns:a="http://schemas.openxmlformats.org/drawingml/2006/main"/>
        </p:blipFill>
        <p:spPr>
          <a:xfrm xmlns:a="http://schemas.openxmlformats.org/drawingml/2006/main">
            <a:off x="857250" y="1810405"/>
            <a:ext cx="6286500" cy="209419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E6852-4BD7-422E-A862-2CFDCD52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103. Interpretasi Skor SUS Hasil Pengujian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72A60-5FEB-465C-A2FD-D4D7C51D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39BE6-F6FE-4527-903A-04CDC8DD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5BB0E-B177-4B66-B57C-CB89C003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62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89,6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D2E51-F3B2-455E-9445-F822C7E5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57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Rata-rata SUS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2E58F-EEF3-4C05-9E57-AF965E75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31665-17B0-43AC-B0EB-A4E1E536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3BDBE-35C3-4777-B554-DF0680C3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432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Excellent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3FF4F-125C-44A4-9212-B6BA90FD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385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Adjective rating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2FAF5-7300-453B-B09E-27ADF6B1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F54F3-4002-4B19-89D5-3CB0FF94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11357-5E34-46D3-95EA-ED1FFE4C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24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F1D760-BA61-4CB1-997D-D36F5308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19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Grade 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83009-F3D1-4231-9159-64018B0E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467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Acceptable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643625-F6E9-457D-AEBB-6B3E1C9F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0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EF1A74-C569-48EF-8CAF-C7A2429F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429125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Enam responden berada pada interpretasi Excellent.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E830E4-5225-4713-8C01-BDDCD28F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E50E7-5711-4EE4-9E24-7B2FB3D8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810125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Satu responden berada pada interpretasi Good.</a:t>
            </a:r>
          </a:p>
        </p:txBody>
      </p:sp>
    </p:spTree>
    <p:extLst>
      <p:ext uri="{BB962C8B-B14F-4D97-AF65-F5344CB8AC3E}">
        <p14:creationId xmlns:p14="http://schemas.microsoft.com/office/powerpoint/2010/main" val="419271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743380-16C4-45AF-9E93-D2DAA746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3C2AC-7408-4B42-AD09-FF374C37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70472-8BDE-4DCC-9AC9-D4BB22DD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KESIMPULAN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D362F-2A31-466A-AF9C-A756B913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36253-A844-4164-9867-FDCA8FBC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995C1-ABFD-44F2-BC04-8167EE35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Pain point utama berhasil dijawab oleh back-end terintegrasi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EE8E3-912B-4D7B-800D-0D711017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2175F-EFE9-4079-A471-C947C6A2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1AB75-84D4-44FA-9EE2-F0764CF6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8F184-3007-44D9-8165-A31EBD20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Analisis kebutuhan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74362-AF3C-4766-83C2-569081A3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D5E55-0DB2-4ED5-9526-7E82D3EA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Masalah manual diterjemahkan menjadi kebutuhan sistem.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73F1B-A772-4EAC-AE3E-99F9E901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C0BC9-AABF-4260-B4EC-9100D8E4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7646A-51DD-4643-82E2-55EB91CA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Design dan implementasi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4D66D-1308-47C8-AEC2-AC4BC093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101FA-02BB-4F99-9E09-B1B23838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Laravel, MySQL, Sanctum, REST API, role, validasi.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70A10-785B-44C5-9872-BE5444CF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50CDD-4482-48F9-8E20-B49A4345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6647D-E4AD-4368-BF03-3E03ABC8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Pengujian dan evaluasi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FEE13-6235-4B06-A029-2E25818D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1FEC5-28A7-44DB-9C28-B3F5F77C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105 test case valid dan SUS 89,6.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6AADC-6086-4977-91F7-7D53861B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F1679-9CA1-4187-8694-0E1D2287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957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Back-end mendukung pengelolaan data pengguna, kedatangan, pesanan, checkout, stok, voucher, notifikasi, konfigurasi, dan laporan.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1760EA-E37B-4723-A998-0954ECA7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91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1477DB-AABC-4D55-864C-1C15F5A4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5148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Integrasi API membuat prototype antarmuka memakai data operasional yang sama.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8B604F-3448-4547-ADD4-26DFE650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10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2EDEE1-0E87-4C22-B583-912693B3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339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Hasil pengujian menunjukkan fungsi valid dan alur sistem diterima pengguna.</a:t>
            </a:r>
          </a:p>
        </p:txBody>
      </p:sp>
    </p:spTree>
    <p:extLst>
      <p:ext uri="{BB962C8B-B14F-4D97-AF65-F5344CB8AC3E}">
        <p14:creationId xmlns:p14="http://schemas.microsoft.com/office/powerpoint/2010/main" val="146105942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443FFB-615B-43EB-BAD7-E6C01C88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F90E5-CC93-4A95-B342-8FB82575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655DB-99AB-4028-803E-96958188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SARAN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FA590-6C38-4600-8C8E-871B1E21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0437F-A6A6-4B48-984B-523C7FF7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9B98E-DB2A-4F74-9088-3CB4E27C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Pengembangan berikutnya memperkuat adopsi dan kesiapan produksi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DBB8F-E996-4060-896B-547ADB1D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BBE09-A6A3-4EB3-AC3C-EED4C598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3FA26-6644-4A00-A334-0A1FA3F9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EB3FA-2910-473D-98A0-EB1C1789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3E48A-02AA-4F66-A5D0-DA85949B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B7C48-4736-4ECB-8F21-8E125885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Untuk Pemancingan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5A29A-E976-4841-ADF4-6E7BCBA0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Untuk Penelitian Selanjutnya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169F8-4BBE-4F6B-985C-F8FB943B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5B771-3F10-4BBD-8B05-BEBC4A86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Terapkan sistem secara bertahap di operasional nyata.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10495-29AE-4E85-9526-E2129AC1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26FEA-A97D-4DF7-8911-893E0466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Lakukan demonstrasi dan pelatihan untuk pemilik, pegawai, dan member.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AB348-E3C4-4EF5-B5E4-12CDB691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C9500-4B9B-417F-B01E-7AFF3D8B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Mulai dari alur login, kedatangan, pemesanan, checkout, stok, menu, dan laporan.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85F09-63FB-4A51-B85E-C47A90CE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A584B-A336-4067-983D-42295B2D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Integrasikan payment gateway atau QRIS dinamis.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38A6D-7E13-40E6-8D93-633B6647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BBEC0-CEDF-4EEC-B989-EB4BF81F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Uji performa, keamanan, deployment, monitoring, dan backup.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0082F-8A5B-44E6-814A-8C42A61D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0D8CE-A3E7-4209-892C-9DCAE726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Kembangkan aplikasi mobile, analitik bisnis, serta pengujian dengan periode lebih panjang.</a:t>
            </a:r>
          </a:p>
        </p:txBody>
      </p:sp>
    </p:spTree>
    <p:extLst>
      <p:ext uri="{BB962C8B-B14F-4D97-AF65-F5344CB8AC3E}">
        <p14:creationId xmlns:p14="http://schemas.microsoft.com/office/powerpoint/2010/main" val="1607618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2026-07-05T18:47:16.1210000Z</dcterms:created>
  <dcterms:modified xsi:type="dcterms:W3CDTF">2026-07-05T18:47:16.1210000Z</dcterms:modified>
</coreProperties>
</file>