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633a4dd0624b95" /><Relationship Type="http://schemas.openxmlformats.org/officeDocument/2006/relationships/extended-properties" Target="/docProps/app.xml" Id="Re112238b2d084e01" /><Relationship Type="http://schemas.openxmlformats.org/officeDocument/2006/relationships/officeDocument" Target="/ppt/presentation.xml" Id="R77c5b06b3b4448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0bc53f237d4796"/>
  </p:sldMasterIdLst>
  <p:notesMasterIdLst>
    <p:notesMasterId xmlns:r="http://schemas.openxmlformats.org/officeDocument/2006/relationships" r:id="R6d9631f5a2d44509"/>
  </p:notesMasterIdLst>
  <p:sldIdLst>
    <p:sldId xmlns:r="http://schemas.openxmlformats.org/officeDocument/2006/relationships" id="256" r:id="R13edd525106b46ea"/>
    <p:sldId xmlns:r="http://schemas.openxmlformats.org/officeDocument/2006/relationships" id="257" r:id="R7981d8f61dde4a8c"/>
    <p:sldId xmlns:r="http://schemas.openxmlformats.org/officeDocument/2006/relationships" id="258" r:id="R2cff572ca936491a"/>
    <p:sldId xmlns:r="http://schemas.openxmlformats.org/officeDocument/2006/relationships" id="259" r:id="R445bb1419aa64a2f"/>
    <p:sldId xmlns:r="http://schemas.openxmlformats.org/officeDocument/2006/relationships" id="260" r:id="R05a8fbb307b64306"/>
    <p:sldId xmlns:r="http://schemas.openxmlformats.org/officeDocument/2006/relationships" id="261" r:id="Rd95e5543f02d447f"/>
    <p:sldId xmlns:r="http://schemas.openxmlformats.org/officeDocument/2006/relationships" id="262" r:id="R7729978f64f341a9"/>
    <p:sldId xmlns:r="http://schemas.openxmlformats.org/officeDocument/2006/relationships" id="263" r:id="R245d8dc7f4b447bd"/>
    <p:sldId xmlns:r="http://schemas.openxmlformats.org/officeDocument/2006/relationships" id="264" r:id="R9a505ce517164d9e"/>
    <p:sldId xmlns:r="http://schemas.openxmlformats.org/officeDocument/2006/relationships" id="265" r:id="R39c1de58cfb34d66"/>
    <p:sldId xmlns:r="http://schemas.openxmlformats.org/officeDocument/2006/relationships" id="266" r:id="R6bcf131e65b5493e"/>
    <p:sldId xmlns:r="http://schemas.openxmlformats.org/officeDocument/2006/relationships" id="267" r:id="Rc4dbf6b921464e3b"/>
    <p:sldId xmlns:r="http://schemas.openxmlformats.org/officeDocument/2006/relationships" id="268" r:id="Rced3627847b44c22"/>
    <p:sldId xmlns:r="http://schemas.openxmlformats.org/officeDocument/2006/relationships" id="269" r:id="R3429989272ec4835"/>
    <p:sldId xmlns:r="http://schemas.openxmlformats.org/officeDocument/2006/relationships" id="270" r:id="Ra8d0cff8a48440f5"/>
    <p:sldId xmlns:r="http://schemas.openxmlformats.org/officeDocument/2006/relationships" id="271" r:id="R8c95cf8eac86483f"/>
    <p:sldId xmlns:r="http://schemas.openxmlformats.org/officeDocument/2006/relationships" id="272" r:id="Rd7b2b445e6bf4682"/>
    <p:sldId xmlns:r="http://schemas.openxmlformats.org/officeDocument/2006/relationships" id="273" r:id="Rb74edf09d8d74693"/>
    <p:sldId xmlns:r="http://schemas.openxmlformats.org/officeDocument/2006/relationships" id="274" r:id="Rb56f2ff1ef524905"/>
    <p:sldId xmlns:r="http://schemas.openxmlformats.org/officeDocument/2006/relationships" id="275" r:id="R34b4af167b474eeb"/>
    <p:sldId xmlns:r="http://schemas.openxmlformats.org/officeDocument/2006/relationships" id="276" r:id="R26247c336bc24f63"/>
    <p:sldId xmlns:r="http://schemas.openxmlformats.org/officeDocument/2006/relationships" id="277" r:id="Ra0c401fe04fd4d78"/>
    <p:sldId xmlns:r="http://schemas.openxmlformats.org/officeDocument/2006/relationships" id="278" r:id="R33cbb96b7fc3401d"/>
    <p:sldId xmlns:r="http://schemas.openxmlformats.org/officeDocument/2006/relationships" id="279" r:id="Rd64d66d5d145462e"/>
    <p:sldId xmlns:r="http://schemas.openxmlformats.org/officeDocument/2006/relationships" id="280" r:id="Rd3f0bb46ab834668"/>
    <p:sldId xmlns:r="http://schemas.openxmlformats.org/officeDocument/2006/relationships" id="281" r:id="R6274aeac17264464"/>
    <p:sldId xmlns:r="http://schemas.openxmlformats.org/officeDocument/2006/relationships" id="282" r:id="R533ea4957acc489a"/>
    <p:sldId xmlns:r="http://schemas.openxmlformats.org/officeDocument/2006/relationships" id="283" r:id="R881ef2ca5c20452a"/>
    <p:sldId xmlns:r="http://schemas.openxmlformats.org/officeDocument/2006/relationships" id="284" r:id="Rb7b03d77b2ac40b4"/>
    <p:sldId xmlns:r="http://schemas.openxmlformats.org/officeDocument/2006/relationships" id="285" r:id="R3bb0dbd5370c4ca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885b1e80b84cf7" /><Relationship Type="http://schemas.openxmlformats.org/officeDocument/2006/relationships/slideMaster" Target="/ppt/slideMasters/slideMaster1.xml" Id="R3e0bc53f237d4796" /><Relationship Type="http://schemas.openxmlformats.org/officeDocument/2006/relationships/notesMaster" Target="/ppt/notesMasters/notesMaster1.xml" Id="R6d9631f5a2d44509" /><Relationship Type="http://schemas.openxmlformats.org/officeDocument/2006/relationships/presProps" Target="/ppt/presProps.xml" Id="R6f66728355ce4566" /><Relationship Type="http://schemas.openxmlformats.org/officeDocument/2006/relationships/tableStyles" Target="/ppt/tableStyles.xml" Id="Rde712108d6e14ca4" /><Relationship Type="http://schemas.openxmlformats.org/officeDocument/2006/relationships/slide" Target="/ppt/slides/slide1.xml" Id="R13edd525106b46ea" /><Relationship Type="http://schemas.openxmlformats.org/officeDocument/2006/relationships/slide" Target="/ppt/slides/slide2.xml" Id="R7981d8f61dde4a8c" /><Relationship Type="http://schemas.openxmlformats.org/officeDocument/2006/relationships/slide" Target="/ppt/slides/slide3.xml" Id="R2cff572ca936491a" /><Relationship Type="http://schemas.openxmlformats.org/officeDocument/2006/relationships/slide" Target="/ppt/slides/slide4.xml" Id="R445bb1419aa64a2f" /><Relationship Type="http://schemas.openxmlformats.org/officeDocument/2006/relationships/slide" Target="/ppt/slides/slide5.xml" Id="R05a8fbb307b64306" /><Relationship Type="http://schemas.openxmlformats.org/officeDocument/2006/relationships/slide" Target="/ppt/slides/slide6.xml" Id="Rd95e5543f02d447f" /><Relationship Type="http://schemas.openxmlformats.org/officeDocument/2006/relationships/slide" Target="/ppt/slides/slide7.xml" Id="R7729978f64f341a9" /><Relationship Type="http://schemas.openxmlformats.org/officeDocument/2006/relationships/slide" Target="/ppt/slides/slide8.xml" Id="R245d8dc7f4b447bd" /><Relationship Type="http://schemas.openxmlformats.org/officeDocument/2006/relationships/slide" Target="/ppt/slides/slide9.xml" Id="R9a505ce517164d9e" /><Relationship Type="http://schemas.openxmlformats.org/officeDocument/2006/relationships/slide" Target="/ppt/slides/slide10.xml" Id="R39c1de58cfb34d66" /><Relationship Type="http://schemas.openxmlformats.org/officeDocument/2006/relationships/slide" Target="/ppt/slides/slide11.xml" Id="R6bcf131e65b5493e" /><Relationship Type="http://schemas.openxmlformats.org/officeDocument/2006/relationships/slide" Target="/ppt/slides/slide12.xml" Id="Rc4dbf6b921464e3b" /><Relationship Type="http://schemas.openxmlformats.org/officeDocument/2006/relationships/slide" Target="/ppt/slides/slide13.xml" Id="Rced3627847b44c22" /><Relationship Type="http://schemas.openxmlformats.org/officeDocument/2006/relationships/slide" Target="/ppt/slides/slide14.xml" Id="R3429989272ec4835" /><Relationship Type="http://schemas.openxmlformats.org/officeDocument/2006/relationships/slide" Target="/ppt/slides/slide15.xml" Id="Ra8d0cff8a48440f5" /><Relationship Type="http://schemas.openxmlformats.org/officeDocument/2006/relationships/slide" Target="/ppt/slides/slide16.xml" Id="R8c95cf8eac86483f" /><Relationship Type="http://schemas.openxmlformats.org/officeDocument/2006/relationships/slide" Target="/ppt/slides/slide17.xml" Id="Rd7b2b445e6bf4682" /><Relationship Type="http://schemas.openxmlformats.org/officeDocument/2006/relationships/slide" Target="/ppt/slides/slide18.xml" Id="Rb74edf09d8d74693" /><Relationship Type="http://schemas.openxmlformats.org/officeDocument/2006/relationships/slide" Target="/ppt/slides/slide19.xml" Id="Rb56f2ff1ef524905" /><Relationship Type="http://schemas.openxmlformats.org/officeDocument/2006/relationships/slide" Target="/ppt/slides/slide20.xml" Id="R34b4af167b474eeb" /><Relationship Type="http://schemas.openxmlformats.org/officeDocument/2006/relationships/slide" Target="/ppt/slides/slide21.xml" Id="R26247c336bc24f63" /><Relationship Type="http://schemas.openxmlformats.org/officeDocument/2006/relationships/slide" Target="/ppt/slides/slide22.xml" Id="Ra0c401fe04fd4d78" /><Relationship Type="http://schemas.openxmlformats.org/officeDocument/2006/relationships/slide" Target="/ppt/slides/slide23.xml" Id="R33cbb96b7fc3401d" /><Relationship Type="http://schemas.openxmlformats.org/officeDocument/2006/relationships/slide" Target="/ppt/slides/slide24.xml" Id="Rd64d66d5d145462e" /><Relationship Type="http://schemas.openxmlformats.org/officeDocument/2006/relationships/slide" Target="/ppt/slides/slide25.xml" Id="Rd3f0bb46ab834668" /><Relationship Type="http://schemas.openxmlformats.org/officeDocument/2006/relationships/slide" Target="/ppt/slides/slide26.xml" Id="R6274aeac17264464" /><Relationship Type="http://schemas.openxmlformats.org/officeDocument/2006/relationships/slide" Target="/ppt/slides/slide27.xml" Id="R533ea4957acc489a" /><Relationship Type="http://schemas.openxmlformats.org/officeDocument/2006/relationships/slide" Target="/ppt/slides/slide28.xml" Id="R881ef2ca5c20452a" /><Relationship Type="http://schemas.openxmlformats.org/officeDocument/2006/relationships/slide" Target="/ppt/slides/slide29.xml" Id="Rb7b03d77b2ac40b4" /><Relationship Type="http://schemas.openxmlformats.org/officeDocument/2006/relationships/slide" Target="/ppt/slides/slide30.xml" Id="R3bb0dbd5370c4c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1fb21d8c1047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63d17479bb4858" /><Relationship Type="http://schemas.openxmlformats.org/officeDocument/2006/relationships/notesMaster" Target="/ppt/notesMasters/notesMaster1.xml" Id="Rbb962c45feee46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41c3b52de2431f" /><Relationship Type="http://schemas.openxmlformats.org/officeDocument/2006/relationships/notesMaster" Target="/ppt/notesMasters/notesMaster1.xml" Id="R73d2a6ec362646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066827f19b4b80" /><Relationship Type="http://schemas.openxmlformats.org/officeDocument/2006/relationships/notesMaster" Target="/ppt/notesMasters/notesMaster1.xml" Id="R79bed95dde2f4a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99ab8b2adf4a38" /><Relationship Type="http://schemas.openxmlformats.org/officeDocument/2006/relationships/notesMaster" Target="/ppt/notesMasters/notesMaster1.xml" Id="R102dfb34962440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aaf1a1517e4347" /><Relationship Type="http://schemas.openxmlformats.org/officeDocument/2006/relationships/notesMaster" Target="/ppt/notesMasters/notesMaster1.xml" Id="R972c44b3ecef4d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ac271793084084" /><Relationship Type="http://schemas.openxmlformats.org/officeDocument/2006/relationships/notesMaster" Target="/ppt/notesMasters/notesMaster1.xml" Id="R630a6dcb379e44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7f7c0cdb47417e" /><Relationship Type="http://schemas.openxmlformats.org/officeDocument/2006/relationships/notesMaster" Target="/ppt/notesMasters/notesMaster1.xml" Id="R2dd7b57d45b045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1f39d8031745ec" /><Relationship Type="http://schemas.openxmlformats.org/officeDocument/2006/relationships/notesMaster" Target="/ppt/notesMasters/notesMaster1.xml" Id="R150456c41bd54e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11728d122b4798" /><Relationship Type="http://schemas.openxmlformats.org/officeDocument/2006/relationships/notesMaster" Target="/ppt/notesMasters/notesMaster1.xml" Id="Rb6bb48fef60d42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82a9d13ce564689" /><Relationship Type="http://schemas.openxmlformats.org/officeDocument/2006/relationships/notesMaster" Target="/ppt/notesMasters/notesMaster1.xml" Id="Rb5e06f2c46bd45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bc838f08d84328" /><Relationship Type="http://schemas.openxmlformats.org/officeDocument/2006/relationships/notesMaster" Target="/ppt/notesMasters/notesMaster1.xml" Id="Rc1102648e84a411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17fe4fd02c140a3" /><Relationship Type="http://schemas.openxmlformats.org/officeDocument/2006/relationships/notesMaster" Target="/ppt/notesMasters/notesMaster1.xml" Id="R923ef1caef5d4cf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e20db6d5fb64ade" /><Relationship Type="http://schemas.openxmlformats.org/officeDocument/2006/relationships/notesMaster" Target="/ppt/notesMasters/notesMaster1.xml" Id="Ra68850cd85174bb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ff3b872a54c4add" /><Relationship Type="http://schemas.openxmlformats.org/officeDocument/2006/relationships/notesMaster" Target="/ppt/notesMasters/notesMaster1.xml" Id="R298bd8943fd54ac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018d8b374634608" /><Relationship Type="http://schemas.openxmlformats.org/officeDocument/2006/relationships/notesMaster" Target="/ppt/notesMasters/notesMaster1.xml" Id="R9ab5126ae5a74be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71b1c974eb14867" /><Relationship Type="http://schemas.openxmlformats.org/officeDocument/2006/relationships/notesMaster" Target="/ppt/notesMasters/notesMaster1.xml" Id="R84cb3b3ce2514c1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cbaf23aa8f44064" /><Relationship Type="http://schemas.openxmlformats.org/officeDocument/2006/relationships/notesMaster" Target="/ppt/notesMasters/notesMaster1.xml" Id="R949fd0605cb9490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4165ec9a2734409" /><Relationship Type="http://schemas.openxmlformats.org/officeDocument/2006/relationships/notesMaster" Target="/ppt/notesMasters/notesMaster1.xml" Id="R785db24aef824e6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3f3db8a3f814b04" /><Relationship Type="http://schemas.openxmlformats.org/officeDocument/2006/relationships/notesMaster" Target="/ppt/notesMasters/notesMaster1.xml" Id="R5ed426416baa453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a9658affc2743f2" /><Relationship Type="http://schemas.openxmlformats.org/officeDocument/2006/relationships/notesMaster" Target="/ppt/notesMasters/notesMaster1.xml" Id="Rc39d82f5a4374f4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afea3c0d0cc4d9a" /><Relationship Type="http://schemas.openxmlformats.org/officeDocument/2006/relationships/notesMaster" Target="/ppt/notesMasters/notesMaster1.xml" Id="Rd363f7e890b74aa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c37b3b4118c41e5" /><Relationship Type="http://schemas.openxmlformats.org/officeDocument/2006/relationships/notesMaster" Target="/ppt/notesMasters/notesMaster1.xml" Id="Re005a5b295be421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43ac77410d540f5" /><Relationship Type="http://schemas.openxmlformats.org/officeDocument/2006/relationships/notesMaster" Target="/ppt/notesMasters/notesMaster1.xml" Id="R86225ff4bd2b4f6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117798ab326494d" /><Relationship Type="http://schemas.openxmlformats.org/officeDocument/2006/relationships/notesMaster" Target="/ppt/notesMasters/notesMaster1.xml" Id="R1be044e1af7f41a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6c2cfa435114baa" /><Relationship Type="http://schemas.openxmlformats.org/officeDocument/2006/relationships/notesMaster" Target="/ppt/notesMasters/notesMaster1.xml" Id="R4df6768d0631470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fc3b18f1e21400a" /><Relationship Type="http://schemas.openxmlformats.org/officeDocument/2006/relationships/notesMaster" Target="/ppt/notesMasters/notesMaster1.xml" Id="Rb3d48d5270e94ff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eb19961b4ad4175" /><Relationship Type="http://schemas.openxmlformats.org/officeDocument/2006/relationships/notesMaster" Target="/ppt/notesMasters/notesMaster1.xml" Id="Rce71905af50847a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189bab2feea43a8" /><Relationship Type="http://schemas.openxmlformats.org/officeDocument/2006/relationships/notesMaster" Target="/ppt/notesMasters/notesMaster1.xml" Id="Rc392cac9be5e44b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3548961f80c42fc" /><Relationship Type="http://schemas.openxmlformats.org/officeDocument/2006/relationships/notesMaster" Target="/ppt/notesMasters/notesMaster1.xml" Id="R3fc548a9030647f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81210eed8674456" /><Relationship Type="http://schemas.openxmlformats.org/officeDocument/2006/relationships/notesMaster" Target="/ppt/notesMasters/notesMaster1.xml" Id="Rb8a47e37476248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dd832447974b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96201e3b0842cf" /><Relationship Type="http://schemas.openxmlformats.org/officeDocument/2006/relationships/slideLayout" Target="/ppt/slideLayouts/slideLayout1.xml" Id="R931b1ecf9e0b4e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1b1ecf9e0b4e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106dbf6f34dff" /><Relationship Type="http://schemas.openxmlformats.org/officeDocument/2006/relationships/image" Target="/ppt/media/image.png" Id="Rb3fd312ee34f4e10" /><Relationship Type="http://schemas.openxmlformats.org/officeDocument/2006/relationships/notesSlide" Target="/ppt/notesSlides/notesSlide1.xml" Id="R89dccfb42e3248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8e0ff78ae640c3" /><Relationship Type="http://schemas.openxmlformats.org/officeDocument/2006/relationships/notesSlide" Target="/ppt/notesSlides/notesSlide2.xml" Id="Re46e92451d334f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0c8e1b0174b9f" /><Relationship Type="http://schemas.openxmlformats.org/officeDocument/2006/relationships/notesSlide" Target="/ppt/notesSlides/notesSlide3.xml" Id="Rc2c8c5c7e9554e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0fed707324cec" /><Relationship Type="http://schemas.openxmlformats.org/officeDocument/2006/relationships/notesSlide" Target="/ppt/notesSlides/notesSlide4.xml" Id="Rdc534820c4a14d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283ed3f1ea4fef" /><Relationship Type="http://schemas.openxmlformats.org/officeDocument/2006/relationships/notesSlide" Target="/ppt/notesSlides/notesSlide5.xml" Id="Re2991d709f334f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8d284e6044bb6" /><Relationship Type="http://schemas.openxmlformats.org/officeDocument/2006/relationships/image" Target="/ppt/media/image2.png" Id="Rdc8636f0a4f34b8b" /><Relationship Type="http://schemas.openxmlformats.org/officeDocument/2006/relationships/image" Target="/ppt/media/image3.png" Id="R40d773948baa498a" /><Relationship Type="http://schemas.openxmlformats.org/officeDocument/2006/relationships/notesSlide" Target="/ppt/notesSlides/notesSlide6.xml" Id="R04bdea9fa22f46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cbf98cb4a4a1a" /><Relationship Type="http://schemas.openxmlformats.org/officeDocument/2006/relationships/notesSlide" Target="/ppt/notesSlides/notesSlide7.xml" Id="Rd9388260b18341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b41e7e28640c8" /><Relationship Type="http://schemas.openxmlformats.org/officeDocument/2006/relationships/notesSlide" Target="/ppt/notesSlides/notesSlide8.xml" Id="R541886c2727344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2346606014892" /><Relationship Type="http://schemas.openxmlformats.org/officeDocument/2006/relationships/notesSlide" Target="/ppt/notesSlides/notesSlide9.xml" Id="R363e2e1e3fc14f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e8eabd230444c" /><Relationship Type="http://schemas.openxmlformats.org/officeDocument/2006/relationships/notesSlide" Target="/ppt/notesSlides/notesSlide10.xml" Id="R7353a9c41d284e8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55dc458aed4eee" /><Relationship Type="http://schemas.openxmlformats.org/officeDocument/2006/relationships/image" Target="/ppt/media/image4.png" Id="R22a17895817f4d32" /><Relationship Type="http://schemas.openxmlformats.org/officeDocument/2006/relationships/notesSlide" Target="/ppt/notesSlides/notesSlide11.xml" Id="R23b32971ccb942b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94b51f81f422d" /><Relationship Type="http://schemas.openxmlformats.org/officeDocument/2006/relationships/image" Target="/ppt/media/image5.png" Id="R67036bd5a70e43d2" /><Relationship Type="http://schemas.openxmlformats.org/officeDocument/2006/relationships/notesSlide" Target="/ppt/notesSlides/notesSlide12.xml" Id="Rb8b8885c6394491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00867a48c447d" /><Relationship Type="http://schemas.openxmlformats.org/officeDocument/2006/relationships/notesSlide" Target="/ppt/notesSlides/notesSlide13.xml" Id="R00edf77ebc074bb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296f6db4641ad" /><Relationship Type="http://schemas.openxmlformats.org/officeDocument/2006/relationships/notesSlide" Target="/ppt/notesSlides/notesSlide14.xml" Id="R0dc29ff34c32430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0574834f31438e" /><Relationship Type="http://schemas.openxmlformats.org/officeDocument/2006/relationships/image" Target="/ppt/media/image6.png" Id="R7c840fb204b840f0" /><Relationship Type="http://schemas.openxmlformats.org/officeDocument/2006/relationships/notesSlide" Target="/ppt/notesSlides/notesSlide15.xml" Id="Re84fa65fec274fd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749a48a82495e" /><Relationship Type="http://schemas.openxmlformats.org/officeDocument/2006/relationships/notesSlide" Target="/ppt/notesSlides/notesSlide16.xml" Id="Rbcea5c4b481447c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cd902ba4641d5" /><Relationship Type="http://schemas.openxmlformats.org/officeDocument/2006/relationships/image" Target="/ppt/media/image7.png" Id="R490c2bfa27da4206" /><Relationship Type="http://schemas.openxmlformats.org/officeDocument/2006/relationships/notesSlide" Target="/ppt/notesSlides/notesSlide17.xml" Id="R8d502d7ee766465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b930b4e6e4cf6" /><Relationship Type="http://schemas.openxmlformats.org/officeDocument/2006/relationships/image" Target="/ppt/media/image8.png" Id="R01b1be22826b4045" /><Relationship Type="http://schemas.openxmlformats.org/officeDocument/2006/relationships/notesSlide" Target="/ppt/notesSlides/notesSlide18.xml" Id="Rc0480fbbc73943a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7904374ec4a26" /><Relationship Type="http://schemas.openxmlformats.org/officeDocument/2006/relationships/image" Target="/ppt/media/image9.png" Id="R797d85b40d244603" /><Relationship Type="http://schemas.openxmlformats.org/officeDocument/2006/relationships/image" Target="/ppt/media/image10.png" Id="Rbfb7f09bf3084297" /><Relationship Type="http://schemas.openxmlformats.org/officeDocument/2006/relationships/image" Target="/ppt/media/image11.png" Id="R25e18c643fd64cd6" /><Relationship Type="http://schemas.openxmlformats.org/officeDocument/2006/relationships/image" Target="/ppt/media/image12.png" Id="Rde414d0c90314c6d" /><Relationship Type="http://schemas.openxmlformats.org/officeDocument/2006/relationships/notesSlide" Target="/ppt/notesSlides/notesSlide19.xml" Id="Rbcfcdee0b3c24a2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5c5852e1a4905" /><Relationship Type="http://schemas.openxmlformats.org/officeDocument/2006/relationships/image" Target="/ppt/media/image13.png" Id="R372a15dfdb7c4538" /><Relationship Type="http://schemas.openxmlformats.org/officeDocument/2006/relationships/image" Target="/ppt/media/image14.png" Id="R3f55a62f59f048b6" /><Relationship Type="http://schemas.openxmlformats.org/officeDocument/2006/relationships/image" Target="/ppt/media/image15.png" Id="R029a9221b179441f" /><Relationship Type="http://schemas.openxmlformats.org/officeDocument/2006/relationships/image" Target="/ppt/media/image16.png" Id="R9f540b61d8654853" /><Relationship Type="http://schemas.openxmlformats.org/officeDocument/2006/relationships/notesSlide" Target="/ppt/notesSlides/notesSlide20.xml" Id="R503e7a97410c4d2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a03575e874f78" /><Relationship Type="http://schemas.openxmlformats.org/officeDocument/2006/relationships/notesSlide" Target="/ppt/notesSlides/notesSlide21.xml" Id="Rdd735872b29146c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10dc66c29453f" /><Relationship Type="http://schemas.openxmlformats.org/officeDocument/2006/relationships/image" Target="/ppt/media/image17.png" Id="Ra6503f2dae054a15" /><Relationship Type="http://schemas.openxmlformats.org/officeDocument/2006/relationships/image" Target="/ppt/media/image18.png" Id="R7c90002e658947c9" /><Relationship Type="http://schemas.openxmlformats.org/officeDocument/2006/relationships/image" Target="/ppt/media/image19.png" Id="R0b2ff241311243b0" /><Relationship Type="http://schemas.openxmlformats.org/officeDocument/2006/relationships/image" Target="/ppt/media/image20.png" Id="R304d8a4a31d443b8" /><Relationship Type="http://schemas.openxmlformats.org/officeDocument/2006/relationships/image" Target="/ppt/media/image21.png" Id="R630b6eb3fbd64816" /><Relationship Type="http://schemas.openxmlformats.org/officeDocument/2006/relationships/notesSlide" Target="/ppt/notesSlides/notesSlide22.xml" Id="R8203d4b05ef243a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d8f5a120a4bb9" /><Relationship Type="http://schemas.openxmlformats.org/officeDocument/2006/relationships/image" Target="/ppt/media/image22.png" Id="R59f92a3288cc4fc1" /><Relationship Type="http://schemas.openxmlformats.org/officeDocument/2006/relationships/image" Target="/ppt/media/image23.png" Id="R04602524049448fd" /><Relationship Type="http://schemas.openxmlformats.org/officeDocument/2006/relationships/image" Target="/ppt/media/image.jpeg" Id="Ra1e82990cab04282" /><Relationship Type="http://schemas.openxmlformats.org/officeDocument/2006/relationships/image" Target="/ppt/media/image24.png" Id="R7057e3616175413f" /><Relationship Type="http://schemas.openxmlformats.org/officeDocument/2006/relationships/image" Target="/ppt/media/image25.png" Id="R2136550474144a5f" /><Relationship Type="http://schemas.openxmlformats.org/officeDocument/2006/relationships/notesSlide" Target="/ppt/notesSlides/notesSlide23.xml" Id="R2d96ec5d93eb42e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a030231be94c38" /><Relationship Type="http://schemas.openxmlformats.org/officeDocument/2006/relationships/notesSlide" Target="/ppt/notesSlides/notesSlide24.xml" Id="Rc46ebf6221e5434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e5a4da69e4965" /><Relationship Type="http://schemas.openxmlformats.org/officeDocument/2006/relationships/image" Target="/ppt/media/image26.png" Id="R1d257776de564c78" /><Relationship Type="http://schemas.openxmlformats.org/officeDocument/2006/relationships/image" Target="/ppt/media/image27.png" Id="R99de57ece2044edb" /><Relationship Type="http://schemas.openxmlformats.org/officeDocument/2006/relationships/image" Target="/ppt/media/image28.png" Id="R87aed5bedea5471a" /><Relationship Type="http://schemas.openxmlformats.org/officeDocument/2006/relationships/image" Target="/ppt/media/image29.png" Id="R337c61949fd843fc" /><Relationship Type="http://schemas.openxmlformats.org/officeDocument/2006/relationships/notesSlide" Target="/ppt/notesSlides/notesSlide25.xml" Id="Rc3baff984fe544d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8e935bb3d48df" /><Relationship Type="http://schemas.openxmlformats.org/officeDocument/2006/relationships/notesSlide" Target="/ppt/notesSlides/notesSlide26.xml" Id="Re454497370ec488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89a2d6d924c8d" /><Relationship Type="http://schemas.openxmlformats.org/officeDocument/2006/relationships/notesSlide" Target="/ppt/notesSlides/notesSlide27.xml" Id="Rd8193e9eb5f64c4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edd1b395842b4" /><Relationship Type="http://schemas.openxmlformats.org/officeDocument/2006/relationships/image" Target="/ppt/media/image2.jpeg" Id="Rbc7ca78da5f5416b" /><Relationship Type="http://schemas.openxmlformats.org/officeDocument/2006/relationships/notesSlide" Target="/ppt/notesSlides/notesSlide28.xml" Id="Rf5586da3fbc749a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a5916d6d84c30" /><Relationship Type="http://schemas.openxmlformats.org/officeDocument/2006/relationships/notesSlide" Target="/ppt/notesSlides/notesSlide29.xml" Id="R87baa1aca3f3440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c7c4d4a10427c" /><Relationship Type="http://schemas.openxmlformats.org/officeDocument/2006/relationships/notesSlide" Target="/ppt/notesSlides/notesSlide30.xml" Id="R3ec4842db1bc4e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1FC37F-9F64-468E-9631-DBA90932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415E34-77F3-49D0-8E74-80151CEC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2476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BB6B2-EF55-4638-97F5-146ADF91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57225"/>
            <a:ext cx="10096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d312ee34f4e10"/>
          <a:stretch xmlns:a="http://schemas.openxmlformats.org/drawingml/2006/main"/>
        </p:blipFill>
        <p:spPr>
          <a:xfrm xmlns:a="http://schemas.openxmlformats.org/drawingml/2006/main">
            <a:off x="744848" y="666750"/>
            <a:ext cx="986805" cy="9906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4B921-D138-4DCF-B10B-4D86735F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1009650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111"/>
                </a:solidFill>
              </a:defRPr>
            </a:pPr>
            <a:r>
              <a:rPr sz="3750" b="1">
                <a:solidFill>
                  <a:srgbClr val="111111"/>
                </a:solidFill>
              </a:rPr>
              <a:t>Perancangan dan Implementasi Back-End Sistem Informasi untuk Mendukung Digitalisasi Bisnis Pemancingan S Menggunakan Metodologi Rapid Application Development (RAD)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0C63F-9480-4534-B73D-BF8B2D92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51FC9-832F-45DE-80D9-3E3BBA48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Raka Bagaskara Putra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ACDBC3-8277-4A7A-991A-CAFE03A9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F1E122183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9DBD0-293C-4600-B8CD-85761B5A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533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Program Studi Sistem Informasi</a:t>
            </a:r>
          </a:p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Jurusan Teknik Elektro dan Informatika</a:t>
            </a:r>
          </a:p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Fakultas Sains dan Teknologi</a:t>
            </a:r>
          </a:p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Universitas Jambi,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D84E50-E5AE-4396-A513-5E9DEF14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9055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Sidang Skripsi</a:t>
            </a:r>
          </a:p>
        </p:txBody>
      </p:sp>
    </p:spTree>
    <p:extLst>
      <p:ext uri="{BB962C8B-B14F-4D97-AF65-F5344CB8AC3E}">
        <p14:creationId xmlns:p14="http://schemas.microsoft.com/office/powerpoint/2010/main" val="13072892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892B2F-E908-46F7-BDFF-52E8F9B4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8F78D-3112-4DB3-9CBE-D28224E6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6612A-FB88-49F0-87E9-552856D8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KONTEKS MASALAH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4583F-3524-4D28-A507-6D81CC49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5FFAA-F3CB-4E03-9A00-B0C06D93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3AB23-9813-47D5-8ED2-002BF730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Operasional masih bertumpu pada catatan manual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30B797-5101-4B72-A5FC-C062C815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C459DE-8D41-4E99-BCF2-4A18C6E4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35BA1F-9C23-4088-AB68-44AD1FFE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Transaksi dicatat di buku tulis tanpa format standar.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1F060-7C2E-4E2A-BE93-340969BF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1C5497-7A98-43A1-B9FC-794BDCF9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Data diinput ulang ke aplikasi pihak ketiga oleh pemilik.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36FF38-7B29-46A4-96CB-561C0B8E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9653EB-7559-41B4-9A1C-BAB36FF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Verifikasi pelanggan masih bergantung pada hafalan pegawai.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3A8E0E-F88E-4E4A-BFA7-2972A0F2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D84FF2-0245-4556-9543-8983FCB9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Data transaksi, stok, rental, dan laporan belum berada di satu sistem.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56CC32-3AF3-41BB-85ED-1F1975D6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43150"/>
            <a:ext cx="1377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B4261A-EFFB-4FF9-842C-A83B72F4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43150"/>
            <a:ext cx="1377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32077A-08A8-441D-A181-DE4D433E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71750"/>
            <a:ext cx="114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Buku tulis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158305-7F82-4A78-ADED-80FAB8B3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6003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E5104F-BD1A-49E7-BB80-01708F86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343150"/>
            <a:ext cx="1377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5099C7-73C1-47A9-B734-F9E0C231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343150"/>
            <a:ext cx="1377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81907E-2CA5-42D5-9DD1-6F37E658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571750"/>
            <a:ext cx="114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Input ulang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AFF4A1-D4A0-4FD5-85AE-81223B23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3400" y="26003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1B5BC2-FC90-4593-A6C5-4518CD3B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5800" y="2343150"/>
            <a:ext cx="1377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E4AD54-0167-4B96-98CB-6CB1FBF5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5800" y="2343150"/>
            <a:ext cx="1377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CF26AC-6EDF-4931-820D-3F75C507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0100" y="2571750"/>
            <a:ext cx="114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Rekap terlambat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0ECD02-9D0C-4EC9-BBA5-E8DFE344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1905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FE2A0C-3A4B-4C3F-A51E-AA6CB490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C2C5F2-5EFA-461B-998F-91479B43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671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1-3 hari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47C182-2CD2-4D5E-BCE0-3C553193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624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Jeda rekap transaksi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47D9E7-65B1-4155-A7E8-ED4F362F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00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45AF45-67DF-46CF-ACC9-769B5D05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EED08C-882F-4FE1-AD48-CEB0D7FA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8671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Terpisah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329131-F035-48C0-8277-B7E5D85D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624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Sumber data operasional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62A07A-1907-470D-90F9-AFEE01C9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Sumber: Latar Belakang dan Ringkasan skripsi.</a:t>
            </a:r>
          </a:p>
        </p:txBody>
      </p:sp>
    </p:spTree>
    <p:extLst>
      <p:ext uri="{BB962C8B-B14F-4D97-AF65-F5344CB8AC3E}">
        <p14:creationId xmlns:p14="http://schemas.microsoft.com/office/powerpoint/2010/main" val="7975274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627C7B-D4B5-47D7-B422-CED4414C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F5D6E-90BC-403F-AEE4-06AC6F01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86E1C-FA26-45BB-9307-BF2E10DE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URGENSI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3E38AF-2AAD-4950-9908-9FBA727C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8479B-3BB5-4745-9261-E8F20CBD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857067-AF18-4F5E-B4A2-7F6A2696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Masalah manual menghambat kontrol operasional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0E3B2-C761-41AA-B435-D50FE2A4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B1ED46-CCFB-4DA8-8A10-55F893E8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435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57DB62-B094-4939-A3FC-AAFF1913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1435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299A30-17C7-4F21-B7CC-B0F0BE62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287DD8-E9F2-403E-B1B6-D27D3036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8BD968-0014-4104-97C2-EFAC3307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Kondisi Lapangan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4DEA60-C143-4365-A123-AE78B7DE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6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Risiko Operasional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06336C-74AA-448B-9797-8E8D8FCF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6E763C-3972-468D-8AFC-D57F2774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955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Pencatatan ganda antara catatan lapangan dan aplikasi.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98E3A4-45EE-4A37-AD88-81B88F31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7A57BD-45C7-4C74-AC10-081EC887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527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Pegawai menangani transaksi, timbang ikan, pesanan, dan rental sekaligus.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DAC35B-A0F8-43AF-9D2A-21FBBFFA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ABC5E5-08F4-4F29-9F69-0F010AB9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99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Data stok dan laporan berada di proses yang terpisah.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16CB34-8CCF-42F7-B374-2F7D2199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D3F843-B461-488E-9D34-F6F74B24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955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Duplikasi kerja dan potensi data berbeda.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56047E-5981-48FC-AF1B-BA391E67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0C8F48-D59F-4798-9FC2-E044AF23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Kesalahan identifikasi member saat pelanggan bertambah.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224CE8-C56C-4264-906F-DC178A36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0CC6F2-D31A-40EE-AF38-08AAEB60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099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Monitoring pemilik lambat ketika tidak berada di lokasi.</a:t>
            </a:r>
          </a:p>
        </p:txBody>
      </p:sp>
    </p:spTree>
    <p:extLst>
      <p:ext uri="{BB962C8B-B14F-4D97-AF65-F5344CB8AC3E}">
        <p14:creationId xmlns:p14="http://schemas.microsoft.com/office/powerpoint/2010/main" val="6547052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5EEB93-E35E-4515-A25C-0A3462C6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7F447-B0A0-47D6-B847-BA079E17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D101E-9BE4-4FE3-8721-9B44D7DA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ARAH PENELITIAN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B5ADA-6A3C-4778-B9AA-991678B9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49FB8-5487-4C74-BC7D-71E9316B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392A4F-0FC0-44CF-A03C-8260A849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Penelitian menjawab kebutuhan back-end yang terintegrasi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A6BE7-ADEB-40F3-A356-4D35C573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094741-D453-46D0-B6E7-B09842E7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Rumusan masalah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C8C320-5FCB-4802-BD9D-ABA5E348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4B9123-3E71-4822-908A-8D8A661F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451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Bagaimana analisis kebutuhan back-end mendukung operasional Pemancingan 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A8B98B-84CA-4B70-9060-610B702F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CE7314-1C90-4DA3-9596-EF85EE2B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451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Bagaimana rancangan dan implementasi back-end menggunakan RAD?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6973C9-C905-4264-A59D-D550EA12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050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Tujuan penelitian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2F8F5C-46FE-441B-8623-C4B23806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99E37A-00D0-4E56-A19A-6C711294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81250"/>
            <a:ext cx="4229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Menganalisis kebutuhan sistem sesuai proses operasional.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C747FD-235B-470B-8A7D-305815A4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67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58FB0F-587C-4F50-AF32-F908D128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90850"/>
            <a:ext cx="4229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Merancang dan mengimplementasikan back-end berbasis web yang terintegrasi.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B0664E-FE63-419C-A8AC-F1DBAD3D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2489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EB0E0B-4237-4386-8DCF-178B2933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2489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1EA56E-B895-4B69-8E60-7D150CE6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991100"/>
            <a:ext cx="226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Analisis kebutuhan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B74BAB-F75E-4E99-B63D-2CE06E45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5019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364C1C-D2B4-4A9E-B2D6-DA5F3B1C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762500"/>
            <a:ext cx="2489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D65E62-76D4-4A57-9019-B4DC2C36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762500"/>
            <a:ext cx="2489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6BE8BD-8B62-4652-A63E-A0E2904B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700" y="4991100"/>
            <a:ext cx="226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Rancangan back-end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E1AE67-F8E8-449C-9B04-37332202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650" y="5019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2C12D8-1281-41F7-8ACE-B056AE2C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2050" y="4762500"/>
            <a:ext cx="2489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5BFC92-EBE2-42A4-80BF-0AB80690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2050" y="4762500"/>
            <a:ext cx="2489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B5ADE2-9F80-4045-9614-D05C2CB9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350" y="4991100"/>
            <a:ext cx="226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Implementasi API</a:t>
            </a:r>
          </a:p>
        </p:txBody>
      </p:sp>
    </p:spTree>
    <p:extLst>
      <p:ext uri="{BB962C8B-B14F-4D97-AF65-F5344CB8AC3E}">
        <p14:creationId xmlns:p14="http://schemas.microsoft.com/office/powerpoint/2010/main" val="15920040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CE5A0F-F125-43BA-B93A-70AAA2E9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4DBF6-1732-426F-8681-04743DC7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B9ED5-3666-4AC3-A771-55116009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RUANG LINGKUP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2C8DF-A096-4C10-899D-6470FC2D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D2E31-1230-4E41-B967-2ACE951B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B8C03-DBD9-425C-9ECD-DBB06EE3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Batasan menjaga fokus pada layanan back-end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ECCEB6-C5BF-4869-8282-8523480E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B2A60-AED4-4FC9-9788-6027B1CB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61FED1-139E-4349-8828-A92FD7BC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00250"/>
            <a:ext cx="908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Fokus pada analisis kebutuhan, perancangan, dan implementasi back-end.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F8AF4E-29EA-4438-ADC3-0E8E01FB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47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A25159-C87D-4334-B99C-DF3E65D3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71750"/>
            <a:ext cx="908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Metode pengembangan: RAD dengan model System Prototyping.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52C7F0-59C0-4A16-93B2-2FA521D3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19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AF875C-D86E-44FD-9A3E-99F79B1A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43250"/>
            <a:ext cx="908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Fitur inti: transaksi, stok ikan, penyewaan alat, dan laporan.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B1F156-F331-4F3D-B7C5-747FC837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90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C4B39E-B9B6-424D-AD67-ABFF9606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14750"/>
            <a:ext cx="908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Fitur pendukung: autentikasi, role, member, voucher, notifikasi, konfigurasi, API.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A99578-811D-4AD8-A699-DAF74529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62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966DD8-BE35-41E7-A2BF-7330D1F7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286250"/>
            <a:ext cx="908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Front-end dibahas sebagai prototype integrasi dari penelitian sebelumnya.</a:t>
            </a:r>
          </a:p>
        </p:txBody>
      </p:sp>
    </p:spTree>
    <p:extLst>
      <p:ext uri="{BB962C8B-B14F-4D97-AF65-F5344CB8AC3E}">
        <p14:creationId xmlns:p14="http://schemas.microsoft.com/office/powerpoint/2010/main" val="16535460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E5CBCD-1548-4A80-8290-BBC4DEBE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AEF54-6DA6-4A88-AE0F-1A99FACA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917A1-849E-4894-8078-65D4E3BC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METODOLOGI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679C47-CB04-4E34-9BBF-E9C8DCAA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2755D-14C7-4C19-BCB0-FB137848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5345BC-A713-43A3-9877-68107AE7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RAD dipakai untuk mengembangkan prototype secara iteratif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E464F-5C8F-4B34-BBE1-721C83D2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FB7D76-4820-43BF-9D26-874E774F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00225"/>
            <a:ext cx="48768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636f0a4f34b8b"/>
          <a:stretch xmlns:a="http://schemas.openxmlformats.org/drawingml/2006/main"/>
        </p:blipFill>
        <p:spPr>
          <a:xfrm xmlns:a="http://schemas.openxmlformats.org/drawingml/2006/main">
            <a:off x="800100" y="1816512"/>
            <a:ext cx="4857750" cy="19867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82DFB-4AA7-4A48-BB95-C28EE34C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2. Tahapan System Prototyping dalam RAD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52BA6-4319-4677-9CF8-237A3AC8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657350"/>
            <a:ext cx="220980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d773948baa498a"/>
          <a:stretch xmlns:a="http://schemas.openxmlformats.org/drawingml/2006/main"/>
        </p:blipFill>
        <p:spPr>
          <a:xfrm xmlns:a="http://schemas.openxmlformats.org/drawingml/2006/main">
            <a:off x="7412553" y="1666875"/>
            <a:ext cx="1500744" cy="3905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62D258-2F4E-405A-9F2C-4C593D4B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6483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4. Kerangka kerja penelitian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0A22D1-DB0D-4F04-9332-40D0E22C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00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E565C0-876D-4588-98A7-0D8C0AF5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33875"/>
            <a:ext cx="508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Planning mengidentifikasi masalah dan ruang lingkup.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9EE91A-7B30-45B6-B4F6-A5E4A1E8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0D35FE-CEF3-4267-9CDC-98893EA8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33925"/>
            <a:ext cx="508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Analysis memetakan kebutuhan, aktor, data, serta proses bisnis.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DA568E-DBAA-4A30-9DD3-F5E5511A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0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03AA29-88C7-4DBC-B6C9-1BB42CE0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33975"/>
            <a:ext cx="508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Design menerjemahkan kebutuhan ke UML, database, dan API.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D0596C-D84A-488D-8994-2029BD85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0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127406-7F71-479D-B6D4-06DFCE71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34025"/>
            <a:ext cx="508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Implementation membangun Laravel, MySQL, integrasi, dan evaluasi.</a:t>
            </a:r>
          </a:p>
        </p:txBody>
      </p:sp>
    </p:spTree>
    <p:extLst>
      <p:ext uri="{BB962C8B-B14F-4D97-AF65-F5344CB8AC3E}">
        <p14:creationId xmlns:p14="http://schemas.microsoft.com/office/powerpoint/2010/main" val="18686219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BA9171-A19A-4202-A072-104E4E3A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5F2E2-AC98-4EFE-A1C8-A68DB275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D866A-F476-415B-BCB8-61C87178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PENGUMPULAN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89DCF-D55D-463E-B8F2-489F12B2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CC7744-F055-474D-A860-21E7DA0C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12437-9752-4BDE-B538-BE109CAC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Data lapangan dikumpulkan dari proses nyata Pemancingan 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3642C-014E-4BBC-9286-FCB0F0D9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FE9025-4E44-4A74-9CD7-DD695E69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4ADDC-C9E1-4D0A-8300-90ED1592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6D8565-4E8F-423C-B265-D32921FC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The Hok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12213D-5AA7-45AF-B1AD-14DEDD7C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479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Lokasi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881110-E1E6-4215-AD77-F8DBEFF9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Kec. Jambi Selatan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C0D23E-5977-47A7-A48C-EE44780E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2762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4DE955-87CB-4FAB-8A11-F7669506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D7135B-BCD5-4AFF-9F59-04CD07DC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526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Nov 2025-Mar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9D8854-333A-4E59-8F6B-99F9BC22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479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Periode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061E9A-EFD0-4821-898C-EB3728BC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Teknik pengumpulan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04C5D3-2052-4115-8CDE-11794241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0CE4C1-4412-4E1A-80D0-69B512CB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71950"/>
            <a:ext cx="908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Studi literatur untuk teori sistem informasi, RAD, Laravel, MySQL, dan evaluasi.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864C5F-DE29-4D61-ABEE-959AB598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767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3726C1-CC5C-4D24-B390-184B3103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00575"/>
            <a:ext cx="908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Observasi aktivitas transaksi, stok, penyewaan, dan laporan.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6E4884-63E1-46ED-BE61-6DD62908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6E48F0-3159-403E-8D46-E1F84DC9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29200"/>
            <a:ext cx="908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Wawancara pemilik dan pegawai untuk menggali masalah dan kebutuhan.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5C1D30-51E5-49FF-B5FF-F8FE2089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34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06093F-F3B1-4137-858E-774156B9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57825"/>
            <a:ext cx="908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Wawancara terbatas pelanggan untuk memahami alur layanan.</a:t>
            </a:r>
          </a:p>
        </p:txBody>
      </p:sp>
    </p:spTree>
    <p:extLst>
      <p:ext uri="{BB962C8B-B14F-4D97-AF65-F5344CB8AC3E}">
        <p14:creationId xmlns:p14="http://schemas.microsoft.com/office/powerpoint/2010/main" val="14726739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259E33-E34C-4800-B285-1E853B8C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8C9AD1-D96C-40F6-9C53-0B66DBF2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F243A7-E5C1-4051-9410-00890BF1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PLANNING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B6DA2C-1BE4-4DE8-8A9E-FA9B28E1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134A37-79C4-4D35-817B-A1D54C30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5CCC0-2D83-469F-980D-AC0F3EB9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Planning menetapkan masalah, ruang lingkup, dan kebutuhan awal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EF3E4-71D6-44DF-B97F-6D69F6F0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BC17FF-E28A-4FCA-A97E-A8A13E84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00250"/>
            <a:ext cx="22050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82327A-078E-422A-BC90-108618E1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00250"/>
            <a:ext cx="2205038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1C001-69BE-4E0C-B6C3-4881ED5A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228850"/>
            <a:ext cx="19764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Observasi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84703E-F132-4314-B359-EC439C4E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213" y="22574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A8B9DB-C253-46B6-88D2-5EC90EA1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2000250"/>
            <a:ext cx="22050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C8D7C7-C8EF-4D81-8805-658CA6A9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2000250"/>
            <a:ext cx="2205038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129C9C-A21F-4344-870D-8C856FAF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2228850"/>
            <a:ext cx="19764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Wawancara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324F49-9F87-406C-973D-F4B1001E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2574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2EFE3E-3B18-4646-BF1B-17845F86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00250"/>
            <a:ext cx="22050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903AA1-2755-492B-A094-45DF8759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00250"/>
            <a:ext cx="2205038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434EE0-878F-4E0D-B385-1F47A812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28850"/>
            <a:ext cx="19764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Identifikasi masalah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82A0B4-885D-4204-BB7B-8FC51B5F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7188" y="22574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C71316-D7D1-4509-AE1D-5858788D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588" y="2000250"/>
            <a:ext cx="22050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BC2F08-A175-4D6D-99FB-5F38EDDB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588" y="2000250"/>
            <a:ext cx="2205038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F98D98-7A42-492D-BF86-EE624B0D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888" y="2228850"/>
            <a:ext cx="19764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Rencana kerja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EF4B26-07CB-4865-9D5C-B274BFFD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05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743962-AA6B-448F-85E9-DDE9EFC0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429000"/>
            <a:ext cx="870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Masalah utama: transaksi manual, stok belum terhubung, laporan kurang efektif.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991582-FADC-4368-BE99-FDA4C4EE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19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73AD6B-AF7B-4B5C-A70B-9BF5462A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943350"/>
            <a:ext cx="870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Ruang lingkup ditetapkan pada back-end dan integrasi dengan prototype UI.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572139-BF7D-43DF-808B-CF983D19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33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7B8D87-4864-4C02-8693-9D98D844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457700"/>
            <a:ext cx="870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Aktor awal: Owner, Employee, Member.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5CD4ED-B952-4A0C-9654-B7A3BFC0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48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775412-CF43-4497-A202-E59E33FA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972050"/>
            <a:ext cx="870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Output tahap: kebutuhan awal, proses utama, dan acuan pengembangan berikutnya.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450D91-BAD4-4315-8767-0F98F28E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Sumber: Tahap Perencanaan (Planning), BAB IV.</a:t>
            </a:r>
          </a:p>
        </p:txBody>
      </p:sp>
    </p:spTree>
    <p:extLst>
      <p:ext uri="{BB962C8B-B14F-4D97-AF65-F5344CB8AC3E}">
        <p14:creationId xmlns:p14="http://schemas.microsoft.com/office/powerpoint/2010/main" val="21347009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BB1421-10DD-419A-915E-8B4BF79A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A90C69-EC5E-448B-8180-69DA4C69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BE9A7-1FF2-4EEC-96BA-CB848379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CBDF9-73AB-4AB9-AEBF-6041206E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8F334-6CE3-4768-B64C-8166D2EA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1C077-55F3-4362-AFAB-D6186544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Analysis mengubah temuan lapangan menjadi kebutuhan sistem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405A3-69E7-447F-AE29-AC2A1DC9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A28E05-0BB6-4A26-BD87-AFEF222A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57C17A-9FFE-4BC2-83B2-99EB7E0B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2F5D06-37A5-431A-9B5A-4C7D5C00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574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B53BF1-27E3-4691-B493-1F4DD98F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527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Kebutuhan fungsional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2C4A75-4CF5-4DD3-932D-8519E72D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003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Tabel 13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50E065-D818-4522-BEE1-4474F0E1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05000"/>
            <a:ext cx="2571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F724F8-65BA-44AC-8D3F-43574837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050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25BBCF-D501-4DF7-872A-2B8AA262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0574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0F2A3F-6CCA-4F90-89CC-4AF40A2B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527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Kebutuhan non-fungsional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F7CA4B-5B88-4CC4-8CA1-C61F4DB2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003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Tabel 14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0B92AB-81F0-4612-81B2-4F0A7571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0500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5C9272-2FB1-4331-9CB9-3F1C45C3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050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3F6E95-E1F4-44DB-A661-1C2EDE78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574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44607C-AE7E-459F-863A-32BE1F04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52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Kebutuhan 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528B18-1512-4E28-BCCB-763FB147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003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Tabel 15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C646DA-BF9C-43CE-ADCA-BC534B5D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05000"/>
            <a:ext cx="200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ADFD7E-1141-4773-A284-C58EFBDA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050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21A46D-1E61-46A9-9E89-4E76CA78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574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B83D55-0EE6-4F91-AD43-DF4BEEED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527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Aktor sistem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32EC61-0398-4D1F-8843-24EBA3C3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003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Tabel 16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E2041C-F1EA-48A5-8FA8-013D8460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38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37322B-8F44-4C5A-BC92-311376C3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62375"/>
            <a:ext cx="90868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Fungsi inti mencakup autentikasi, member, kedatangan, pesanan, checkout, stok, voucher, laporan, dan API.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C744EB-068C-416F-8EF6-A47CF130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62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5C827A-EAA5-4603-839E-7B865419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86250"/>
            <a:ext cx="90868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Kualitas sistem menekankan autentikasi, pembatasan role, validasi, integritas data, dan integrasi API.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0B87E6-636B-4627-896D-E0CAC500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86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235FF3-8483-47C7-BDAC-5D19B464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10125"/>
            <a:ext cx="90868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Data utama meliputi pengguna, member, ikan, stok, menu, rental, transaksi, voucher, notifikasi, dan konfigurasi.</a:t>
            </a:r>
          </a:p>
        </p:txBody>
      </p:sp>
    </p:spTree>
    <p:extLst>
      <p:ext uri="{BB962C8B-B14F-4D97-AF65-F5344CB8AC3E}">
        <p14:creationId xmlns:p14="http://schemas.microsoft.com/office/powerpoint/2010/main" val="4976236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5E4AAE-B11C-465A-AD08-AF628A8C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504A8-E24F-4232-9F1E-830C6C0C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8D1A75-DEEF-44FC-BE63-D683FFBB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5DEBE-6370-4154-AC4E-4F70B807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CCBA6-B5C5-41D5-8D10-F348B91A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1007D-8FFE-44E9-AC00-B6FFF022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Sistem usulan menyatukan alur yang sebelumnya terpisah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56C40-056B-4D1C-ABB5-BCD9A945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BCDCA-F2ED-4544-989A-8D8895D2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435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E1D5E-E173-43C7-AAAD-621C1B52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1435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319DEB-074E-45B4-AA5C-4FCC48D7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F03F3-CDEB-4877-ABB0-90755CED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0375F6-476B-44B4-980C-E13085A8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Sistem Berjalan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4D1047-B468-4C60-A589-A6447FCD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6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Sistem Usulan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D6CE0-7C67-49EB-B25D-5BB8FBCE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E429E3-9800-40AD-BCBC-577EC0E1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955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Transaksi dicatat di buku tulis.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6DB527-472E-439E-B706-A50225DF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F3ED78-4071-4A73-8286-4C7713EB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527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Pemilik melakukan input ulang.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C09CAB-B9D0-49AB-824C-0D36F524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91F5A8-BB12-48A1-8540-A0DA5E73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99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Member divalidasi dari ingatan pegawai.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EE6998-7ACA-400F-92E0-82945E6A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8613E6-1EA0-4A84-AF9B-94D999B2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671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Stok dan laporan tidak otomatis terhubung.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AC6999-18F2-4AD4-80B0-E8DC0649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C54684-E533-4C61-B5E0-05A22EC4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955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Data masuk melalui layanan back-end.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CD85EC-2511-4B61-A726-4650FB6D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7BE1EA-ABAD-4194-80EC-C515BC8D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Role menentukan hak akses setiap aktor.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0FCDB7-F237-4123-B84B-DF7CFD5A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F865DD-6DA8-473D-BB19-697437C9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099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Member, transaksi, stok, voucher, dan laporan memakai basis data yang sama.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DC196F-7BC7-4D98-B527-37F6028E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43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31138A-4617-41F5-A994-B8728760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671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Dashboard dan laporan mengambil data operasional terkini.</a:t>
            </a:r>
          </a:p>
        </p:txBody>
      </p:sp>
    </p:spTree>
    <p:extLst>
      <p:ext uri="{BB962C8B-B14F-4D97-AF65-F5344CB8AC3E}">
        <p14:creationId xmlns:p14="http://schemas.microsoft.com/office/powerpoint/2010/main" val="16994089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51D229-52FD-4C04-9C39-471E4A84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F31418-F830-4533-8767-7C2A35A2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E0CBDC-DFAD-4D27-ACA9-6389DF6B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D362A-858C-4819-B5B4-08C66572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0F339-58C7-4FAD-B084-4AEE36E7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34DEB-8CE4-43E2-BEDE-DD433F0E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Use case memusatkan tiga aktor pada proses operasional inti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961CE-E6AA-46A9-9D85-DEB6E77C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E92815-FD28-428A-989B-94638248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562100"/>
            <a:ext cx="7162800" cy="435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a17895817f4d32"/>
          <a:stretch xmlns:a="http://schemas.openxmlformats.org/drawingml/2006/main"/>
        </p:blipFill>
        <p:spPr>
          <a:xfrm xmlns:a="http://schemas.openxmlformats.org/drawingml/2006/main">
            <a:off x="4578071" y="1571625"/>
            <a:ext cx="3035858" cy="43338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DEDD69-B28A-4252-9F6C-D1F4495A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9817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5. Use Case Diagram Umum Sistem Informasi Pemancingan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B433F-829F-4CB5-AF36-3315126B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Aktor: Pemilik, Pegawai, Member.</a:t>
            </a:r>
          </a:p>
        </p:txBody>
      </p:sp>
    </p:spTree>
    <p:extLst>
      <p:ext uri="{BB962C8B-B14F-4D97-AF65-F5344CB8AC3E}">
        <p14:creationId xmlns:p14="http://schemas.microsoft.com/office/powerpoint/2010/main" val="11220739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3C9BB6-1845-4A09-AB0E-8A9E914E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FEDD7B-CEA9-4671-9213-0CFB0470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0A9C9-3AEF-4CEB-94F8-A86345DA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97DDD-AE49-42F8-BF58-7C0EFAF1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ADA6E-6121-4AEC-8DD3-85998CC5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D1A98-3ADB-427C-BA4E-9340E578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Class diagram menggambarkan relasi data dan logika 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23FF3-EC77-4101-82AA-A638373E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0341BC-C0A9-43B2-BB9F-479E7B88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562100"/>
            <a:ext cx="10496550" cy="435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036bd5a70e43d2"/>
          <a:stretch xmlns:a="http://schemas.openxmlformats.org/drawingml/2006/main"/>
        </p:blipFill>
        <p:spPr>
          <a:xfrm xmlns:a="http://schemas.openxmlformats.org/drawingml/2006/main">
            <a:off x="2339975" y="1571625"/>
            <a:ext cx="7512050" cy="43338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612AF-7782-413A-9A9F-C8E4FB84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817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39. Class Diagram Sistem Informasi Pemancingan S - Revisi Layout</a:t>
            </a:r>
          </a:p>
        </p:txBody>
      </p:sp>
    </p:spTree>
    <p:extLst>
      <p:ext uri="{BB962C8B-B14F-4D97-AF65-F5344CB8AC3E}">
        <p14:creationId xmlns:p14="http://schemas.microsoft.com/office/powerpoint/2010/main" val="4159737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7C4AA2-CA57-4653-977E-8E718ED5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F68AE-E024-402C-9779-37CFF674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776085-A321-4D3E-A859-32EF5798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DESIGN DATABASE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9DF74-DC27-42C0-89C0-05DA0D79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BCA736-1C84-44DD-BB29-D78B50C1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5B7D5B-CED1-405B-AF08-4440FBCB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Rancangan database menata entitas utama operasional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4162C7-7E0C-4A43-92BD-EDD4395C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986B9-4EB6-4714-A113-4B5F84E5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576FF-ABCC-43FA-A828-480EB78F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B94527-AB89-4E32-B894-5FC48747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62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5DE46F-4889-4C0D-97E5-CC906868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Entitas rancangan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A04099-B44E-4366-B214-74E3F572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Tabel 48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3E3621-2917-4078-A1D9-A0DCAC6F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66EDE1-17CA-4972-B966-E62FDF0E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4B8073-FA08-4C0E-A389-A479C369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621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905ECC-E055-48DA-A87C-4C3C0907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Kelompok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BC3B92-0D00-4D33-89DF-8CE8F384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051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Pengguna, transaksi, stok, layanan, konfigurasi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3BA3AE-B6EE-476B-8F14-F280CDD0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Entitas kunci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778328-3B24-40B9-B465-6577E660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7E49B0-DF4D-47F0-B8D8-C8560EE2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05250"/>
            <a:ext cx="470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User, Member, Member Tier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E48E39-BCBD-4917-BE7E-52597E19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3D6AD7-7440-4BCA-80A8-643BEB68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86250"/>
            <a:ext cx="470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Arrival, Pending Order, Transaksi, Transaction Item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509DA8-95C4-4BCF-97ED-C79AC9FD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CE249E-3151-4692-BC39-E6018C48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0"/>
            <a:ext cx="470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Tipe Ikan, Stok Ikan, Riwayat Restok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E88825-55C8-4D8F-804E-CB59907D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02E9B4-0BB2-41D8-BB99-A98E5E1B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48250"/>
            <a:ext cx="470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Menu, Rental Item, Voucher, Notifikasi, Event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9ED657-101E-4057-B72A-EABF2C4B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948A4D-5B3F-4B1B-9129-B33663E6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29250"/>
            <a:ext cx="470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Konfigurasi Guest dan QRIS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50C290-6185-4FCD-8B47-79AF13DB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95625"/>
            <a:ext cx="79629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688F22-E8E7-4F0B-A5B9-844E4087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95625"/>
            <a:ext cx="79629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C3BD3B-9A4E-4283-B877-2D08D432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324225"/>
            <a:ext cx="56769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Member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082AD8-AD5B-4DC4-8064-E50C8ED5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9465" y="33528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13B543-06FA-4F73-BCB9-12501DA1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1865" y="3095625"/>
            <a:ext cx="79629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052E5F-F657-40B3-B778-B9A40996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1865" y="3095625"/>
            <a:ext cx="79629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1F3B35-5390-4D8F-A0FE-3E83FA8E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165" y="3324225"/>
            <a:ext cx="56769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Kedatangan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C9E65E-5331-4E4D-9351-34F19209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7205" y="33528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F5F2F0-9904-49FD-A967-0F7B3D6A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9605" y="3095625"/>
            <a:ext cx="79629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1C85F8-1215-446F-969F-76BBB079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9605" y="3095625"/>
            <a:ext cx="79629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B6A4B3-E562-4D09-8F0C-1695B3F6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905" y="3324225"/>
            <a:ext cx="56769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Pesanan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2973AB-B811-4278-B89C-1D62E0AA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4945" y="33528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B1B374-31BD-4F0D-8FDF-F706F496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345" y="3095625"/>
            <a:ext cx="79629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EC4F19A-6513-47A5-8EB1-3ED67997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345" y="3095625"/>
            <a:ext cx="79629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D22D44-E8A6-4CBB-B3AE-F6C36706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1645" y="3324225"/>
            <a:ext cx="56769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Transaksi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A4A2973-CDF9-4F0D-9DF8-596F5C51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2685" y="33528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3EC30C1-52B3-4B12-95C8-11A538D4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085" y="3095625"/>
            <a:ext cx="79629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E3B587-F8F7-4A9D-B031-52C5AAAC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085" y="3095625"/>
            <a:ext cx="79629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6F54D3F-AE06-491B-81CF-07F72F76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9385" y="3324225"/>
            <a:ext cx="56769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Laporan</a:t>
            </a:r>
          </a:p>
        </p:txBody>
      </p:sp>
    </p:spTree>
    <p:extLst>
      <p:ext uri="{BB962C8B-B14F-4D97-AF65-F5344CB8AC3E}">
        <p14:creationId xmlns:p14="http://schemas.microsoft.com/office/powerpoint/2010/main" val="5742724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5BF4DE-DEE9-4493-A3F1-EB93F51D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06861-E501-47D4-8D07-E0636D5C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60469-65DC-4FA2-8557-40B6D3FC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DESIGN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B5C0A-E187-4FC1-96F4-F5ED6173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D3550-CEA7-43F2-A056-04A5524D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30C5B-52A3-4DB6-B044-8F0982A5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Endpoint API dirancang sebagai jembatan data antarmuka dan back-end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A99D33-7933-4C59-8BFF-E24660CC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1EF1D-663A-4EFE-8BF8-42BD99CA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2667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717E0-B1EB-4638-BB0E-1970D9F9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A94717-26C5-482D-BB78-4184ACC0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56B660-73DC-4B94-BA40-1A93FE01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574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Endpoint rancangan utama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FB3245-5299-442E-B4CB-05C2BF3D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Tabel 67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9D65E9-BAA1-4675-83D8-D44DFCAD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85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B36889-5678-4FA4-B393-C45142F3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09750"/>
            <a:ext cx="6419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POST /api/login untuk autentikasi pengguna.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C3746B-DAF4-401E-B3BD-68BA85BD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14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C45085-3A1E-425B-92F3-25AC5B67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38375"/>
            <a:ext cx="6419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POST /api/register untuk registrasi member.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0FB0E2-A303-48EB-BF03-36701AE1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43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3CB048-DB98-414E-AFF1-7BC49486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67000"/>
            <a:ext cx="6419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GET /api/member/profile untuk profil dan dashboard member.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573F32-A790-4148-816F-7EDF01AD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71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E82D22-6898-41BD-9414-B00F93CD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95625"/>
            <a:ext cx="6419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POST /api/employee/check-in untuk mencatat kedatangan.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676CB0-7720-4DA2-87EF-170B4BD1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BAC3A3-5EE7-4EDC-BE75-719C27EE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24250"/>
            <a:ext cx="6419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POST /api/employee/checkout untuk menyelesaikan transaksi.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81AD75-7383-4171-B433-B0707F44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290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3DA235-6B69-4953-9FE1-5E95B5EB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52875"/>
            <a:ext cx="6419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GET /api/owner/reports/summary untuk laporan pemilik.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B554B0-A326-4460-9913-1003CC55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Swagger hanya diposisikan sebagai dokumentasi endpoint, bukan fokus pembahasan utama.</a:t>
            </a:r>
          </a:p>
        </p:txBody>
      </p:sp>
    </p:spTree>
    <p:extLst>
      <p:ext uri="{BB962C8B-B14F-4D97-AF65-F5344CB8AC3E}">
        <p14:creationId xmlns:p14="http://schemas.microsoft.com/office/powerpoint/2010/main" val="102990004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65668C-2948-48B3-9612-D8440AB5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6C2AF7-77E5-40E4-A57B-1F9FBE9E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8F643-2D45-4943-8583-5E454143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ALUR PROSES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75A3E-7DF4-4726-BDB0-090A71E4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53F4D-18DA-4ECF-9E0D-33CD61C5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FAAFC-A7CB-4C30-8908-F638E8F7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Alur inti bergerak dari kedatangan hingga laporan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DCC1A2-ED24-41B4-AC14-98E5270E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31C6B-95C3-4214-B833-D239B83C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514475"/>
            <a:ext cx="31623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840fb204b840f0"/>
          <a:stretch xmlns:a="http://schemas.openxmlformats.org/drawingml/2006/main"/>
        </p:blipFill>
        <p:spPr>
          <a:xfrm xmlns:a="http://schemas.openxmlformats.org/drawingml/2006/main">
            <a:off x="7096125" y="2415702"/>
            <a:ext cx="3143250" cy="2312346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0DA93D-1D50-435C-880C-6DCDB027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6959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22. Activity Diagram Checkout Transaksi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7D0655-DDC7-450D-9BFC-878B256A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96774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83D4E6-81AF-407F-9392-8C315A9F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9677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88D97F-B0C5-4192-884B-8396F178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62225"/>
            <a:ext cx="7391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Check-in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415396-D0AF-4696-A9B3-1187E327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040" y="25908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419704-8973-4278-A77D-0870E8CD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2333625"/>
            <a:ext cx="96774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A9062B-EEC0-4AEB-91EC-7AD5F906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2333625"/>
            <a:ext cx="9677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97A905-E1D8-47B0-88F4-B7A5B0E6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740" y="2562225"/>
            <a:ext cx="7391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Pesanan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BBC236-50A2-4B1E-95AF-E7B792B3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3230" y="25908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F80214-1FB7-4C1B-9779-FB9F4F2E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5630" y="2333625"/>
            <a:ext cx="96774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58E192-B929-450C-A1ED-96CD528B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5630" y="2333625"/>
            <a:ext cx="9677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470C01-C9D0-4CAC-B884-36D8B389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2562225"/>
            <a:ext cx="7391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Checkout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B4670C-7E55-4817-8FE9-D3FDF2F4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420" y="25908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78A7C8-8C1B-45E3-A0CF-BEDD3614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4820" y="2333625"/>
            <a:ext cx="96774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659024-FD25-42D0-AD71-090D3854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4820" y="2333625"/>
            <a:ext cx="9677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3F75B1-EA48-4FEE-8EDA-801AA3A2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562225"/>
            <a:ext cx="7391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Update stok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D3F8B3-4822-4415-A304-CC0C391B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610" y="25908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FC5F55-5679-4A54-B2CD-2B8B7FC4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010" y="2333625"/>
            <a:ext cx="96774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FBAE6E-06FE-4E9B-A358-1EFF4656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010" y="2333625"/>
            <a:ext cx="9677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FD64F0-3EBD-47CA-AD91-E2E634C3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310" y="2562225"/>
            <a:ext cx="7391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Laporan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10EC28-CB90-427E-9B64-DA3C7967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8A11C5-6D5C-4140-9CE5-7F82563E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14750"/>
            <a:ext cx="5038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Pegawai mencatat kedatangan member atau tamu.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B5E398-119F-4775-BF79-4BCF2FB0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DADA46-2BEC-4CDD-B383-5A4FA6C3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33850"/>
            <a:ext cx="5038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Pesanan menu/rental disimpan sebagai pending order.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F36F52-FF72-464E-B09C-C2951C91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26BC04-26E7-469E-8A43-4ED50170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52950"/>
            <a:ext cx="5038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Checkout menghitung ikan, menu, rental, diskon, voucher, dan pembayaran.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F17CB3-BEC2-485A-9EE0-A64340D3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7F531C-4091-4C6A-A24A-F9816086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72050"/>
            <a:ext cx="5038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Transaksi memperbarui stok, poin member, riwayat, dan laporan.</a:t>
            </a:r>
          </a:p>
        </p:txBody>
      </p:sp>
    </p:spTree>
    <p:extLst>
      <p:ext uri="{BB962C8B-B14F-4D97-AF65-F5344CB8AC3E}">
        <p14:creationId xmlns:p14="http://schemas.microsoft.com/office/powerpoint/2010/main" val="157532326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468B18-B937-47E1-AD78-EBDE4F3E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097A8-C0E0-47D8-BFA5-89E0E486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0C4FA-9BEE-4B57-8BB3-4536429C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ARSITEKTUR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5DE831-3054-4B85-89C8-EDCDC203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A9FBD-E7DF-4B57-8D4C-532E311F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0E2645-AAFB-44EA-8FD0-E6DE8B36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Back-end menjadi pusat integrasi antara UI dan data operasional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EA733-73A1-4BDA-B21D-F902D262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660AD-8194-40F4-B76D-B7C727C0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476500"/>
            <a:ext cx="20859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35C70C-7648-403D-A45D-7A533779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476500"/>
            <a:ext cx="20859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66284F-42E5-4F33-8C21-1A7779CE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70510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Prototype UI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CD8E6-05B9-44D6-B5B5-17248485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33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67302D-D157-4723-AF2B-BF34B172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76500"/>
            <a:ext cx="20859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61F14B-329B-4BF9-B494-53CD6265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76500"/>
            <a:ext cx="20859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E66262-7B14-465A-960F-5740729C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70510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REST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4A7E30-6A82-4346-A0A5-A212A397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733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218280-E3B6-4AC0-920D-62EC8787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476500"/>
            <a:ext cx="20859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B47850-F1D9-4651-90AB-587BD165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476500"/>
            <a:ext cx="20859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1BD8D8-523A-42A6-A16A-0CDA2602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70510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Laravel Controller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BA4784-004F-48FD-B9E2-A7D03BD0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33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CABF71-224F-4BD7-B011-744C23B8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76500"/>
            <a:ext cx="20859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9C73EE-CA0F-44D2-B968-5326285C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76500"/>
            <a:ext cx="20859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29DCE0-4A78-4413-BA2B-8E0B4985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0510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MySQL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C1B127-2540-46C4-BC0D-729089D0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C9C4CD-9F4B-4DBC-817C-F970F31F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000500"/>
            <a:ext cx="870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Frontend mengirim request untuk login, member, kedatangan, pesanan, checkout, dan laporan.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1BE470-31DB-41D7-9730-961CB59C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95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2EF384-AB22-4588-8B77-DCD2EC3D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419600"/>
            <a:ext cx="870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REST API menjaga format komunikasi data dalam JSON.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D742E5-5D6F-43DC-8752-4D270A71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14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C5CA5A-F508-4D37-BF06-D5C1B320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838700"/>
            <a:ext cx="870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Laravel memproses autentikasi, validasi, role, dan logika bisnis.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91223F-63B4-491A-803C-3A3CC4A8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51D0FC-B30B-4025-9359-2F6062FA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257800"/>
            <a:ext cx="870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MySQL menyimpan data operasional sebagai sumber data terpusat.</a:t>
            </a:r>
          </a:p>
        </p:txBody>
      </p:sp>
    </p:spTree>
    <p:extLst>
      <p:ext uri="{BB962C8B-B14F-4D97-AF65-F5344CB8AC3E}">
        <p14:creationId xmlns:p14="http://schemas.microsoft.com/office/powerpoint/2010/main" val="14810038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372E4B-0F98-4A21-AFB1-9FF29067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7E496-BAB4-4B21-A79A-9A0175DC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11EA5-9637-4332-ADB4-42F899F1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TEKNOLOGI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D8396-9EF1-4805-AFF7-A5AB05DD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E5E70-52AF-4593-9F96-12641BDA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0C1A2-EA05-4C2E-A68C-BE5910A7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Teknologi dipilih untuk back-end API yang terstruktur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A0FFB6-28DB-40AC-9CCC-21B06BA0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17083-E71F-455F-B0CE-7267AF9C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514475"/>
            <a:ext cx="20193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c2bfa27da4206"/>
          <a:stretch xmlns:a="http://schemas.openxmlformats.org/drawingml/2006/main"/>
        </p:blipFill>
        <p:spPr>
          <a:xfrm xmlns:a="http://schemas.openxmlformats.org/drawingml/2006/main">
            <a:off x="8527872" y="1524000"/>
            <a:ext cx="1518005" cy="4095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A64CFD-7516-43C6-A25B-C6DEEC0A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959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58. Struktur Folder Controller Laravel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956B71-6ABA-4037-91A0-3969BA5D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9D8A10-BC41-4573-990C-A28EBFC4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440EC3-0AB1-40D7-8F62-3399E864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621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Laravel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697E99-BFB1-4C23-A2B4-DC2AFFF1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574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Framework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E1000E-CAE2-4467-A8CC-E35AAD3C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E88245-FE96-42CC-B430-6F742955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FF87D8-2B36-4FDA-A418-0863B347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62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MySQL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97E586-D955-40D7-B9FB-1ABD3085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57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Database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30DFEB-56D5-44AE-9BC0-8582B75A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1F3371-F9E8-4CBA-8490-30B1F11D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7B7B84-44ED-487A-B82B-28A0B5DB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Sanctum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8B3DA7-76D1-41FF-A885-10F4C46E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814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Keamanan 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59AB4D-93B4-499E-A422-152DE339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E49F51-2061-411C-B1E5-72DF8220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E34196-A374-4B19-A00D-36F98EDF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86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REST 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69BC3F-C418-4757-AAB6-24117E94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8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Komunikasi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8E1851-5385-4C1B-BB59-0D426907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Controller dipisahkan berdasarkan domain agar logika autentikasi, member, operasional pegawai, dan pemilik lebih mudah dipelihara.</a:t>
            </a:r>
          </a:p>
        </p:txBody>
      </p:sp>
    </p:spTree>
    <p:extLst>
      <p:ext uri="{BB962C8B-B14F-4D97-AF65-F5344CB8AC3E}">
        <p14:creationId xmlns:p14="http://schemas.microsoft.com/office/powerpoint/2010/main" val="160821563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72FC11-185F-4C5F-9031-032E9A41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C3C23-B3D2-4783-B040-324B8232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49EA06-D6C1-46D2-A024-EFEF82A8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IMPLEMENTASI DATABASE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4AF850-7844-402A-911C-ECF02EDC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770A9-9BCA-4D67-8DDC-F354ADFF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69C7B-A153-48EA-973A-B1860139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Implementasi MySQL menghasilkan 27 tabel operasional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40AD84-E305-4E1D-8456-BBBC331B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7E96F4-FA6F-4D02-896E-163B5D94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14475"/>
            <a:ext cx="4114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b1be22826b4045"/>
          <a:stretch xmlns:a="http://schemas.openxmlformats.org/drawingml/2006/main"/>
        </p:blipFill>
        <p:spPr>
          <a:xfrm xmlns:a="http://schemas.openxmlformats.org/drawingml/2006/main">
            <a:off x="6334125" y="1814116"/>
            <a:ext cx="4095750" cy="3515519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66D9BC-C1D2-46EF-811E-89D8B5BF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695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40. Daftar tabel pada database pemancingan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111461-C626-43BB-831D-6CC4A65C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80AF5-ED04-4A3D-8A03-F0B34D4C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C39B9C-C7CF-4273-9599-500749ED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62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27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792636-F614-4BF0-81F3-68F677E9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57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Total tabel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E8D80B-16BB-4EB3-BA96-A38DF609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84ABC1-0A48-45A1-A1E4-1A4397C0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0F0E33-BFF3-4A79-B77F-66D916AA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62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161B10-B6FD-46F4-BD80-5C9FC13A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Tabel utama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947457-283C-430B-9D16-F1ECBD70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B22D25-0236-4A85-8EFC-98DF33F6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36DD0E-A90A-4033-8414-3F49DD4D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0C1313-BF48-4E85-8AF4-44250ABE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8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Tabel pendukung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9FD043-A36D-4A74-84CC-49B6C128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57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736A30-CAE7-419C-9A8E-C2688BE7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81375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Tabel utama menyimpan domain pengguna, member, kedatangan, transaksi, stok, menu, voucher, event, dan konfigurasi.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769FF7-F8D9-42D7-B985-1651470F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43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1BEEAB-0204-4BE9-8DDF-FABD90DF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67175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Tabel pendukung berasal dari Laravel untuk migration, token, session, cache, dan job queue.</a:t>
            </a:r>
          </a:p>
        </p:txBody>
      </p:sp>
    </p:spTree>
    <p:extLst>
      <p:ext uri="{BB962C8B-B14F-4D97-AF65-F5344CB8AC3E}">
        <p14:creationId xmlns:p14="http://schemas.microsoft.com/office/powerpoint/2010/main" val="129673614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50F9CA-4F42-4E18-896C-833B9011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C75D9-1A03-476A-ABFC-8EFA4BFC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8CDA2-222E-42F4-A4C1-F96F532D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AUTENTIKASI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AE02C-C5E3-4A5B-A157-A6D78CAE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B3C778-42E7-4BD5-BED7-48CE7FE2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4301AE-19F3-4E99-BE6F-8F7AB79B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Sanctum dan middleware role menjaga akses tiap pengguna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83E498-E401-404C-873E-723B08B7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498995-DA1F-4188-A832-B0693DC4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657350"/>
            <a:ext cx="24955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7d85b40d244603"/>
          <a:stretch xmlns:a="http://schemas.openxmlformats.org/drawingml/2006/main"/>
        </p:blipFill>
        <p:spPr>
          <a:xfrm xmlns:a="http://schemas.openxmlformats.org/drawingml/2006/main">
            <a:off x="590550" y="1800927"/>
            <a:ext cx="2476500" cy="1827396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751576-88CD-459D-B43E-4BD62486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385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59. Login dan token Sanctum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02B962-3783-478D-ACDA-284AE7B2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657350"/>
            <a:ext cx="24955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b7f09bf3084297"/>
          <a:stretch xmlns:a="http://schemas.openxmlformats.org/drawingml/2006/main"/>
        </p:blipFill>
        <p:spPr>
          <a:xfrm xmlns:a="http://schemas.openxmlformats.org/drawingml/2006/main">
            <a:off x="3333750" y="2123524"/>
            <a:ext cx="2476500" cy="1182203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974436-79AB-4F8A-9B02-51A6990C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385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64. Middleware CheckRole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E4B628-6BF2-481A-AE19-C6ACC447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657350"/>
            <a:ext cx="24955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e18c643fd64cd6"/>
          <a:stretch xmlns:a="http://schemas.openxmlformats.org/drawingml/2006/main"/>
        </p:blipFill>
        <p:spPr>
          <a:xfrm xmlns:a="http://schemas.openxmlformats.org/drawingml/2006/main">
            <a:off x="6076950" y="2382253"/>
            <a:ext cx="2476500" cy="66474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E0A7AE-E56A-4921-87AE-40095E81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385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65. Alias middleware role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E2FF31-53C8-4E66-BAE0-42A31D6E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57350"/>
            <a:ext cx="24955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414d0c90314c6d"/>
          <a:stretch xmlns:a="http://schemas.openxmlformats.org/drawingml/2006/main"/>
        </p:blipFill>
        <p:spPr>
          <a:xfrm xmlns:a="http://schemas.openxmlformats.org/drawingml/2006/main">
            <a:off x="8820150" y="1671888"/>
            <a:ext cx="2476500" cy="2085474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E60DF9-7EC4-4A6E-A1D7-7A154304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385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66. Route group API berdasarkan role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767960-CAE3-4951-80BB-D257FE1B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D7B1C6-AE5E-44E9-A1C5-9A9103DA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62500"/>
            <a:ext cx="937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Login membuat token akses untuk request API berikutnya.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46958A-718E-4A5E-8FE1-40E77240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00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2AFB7A-0D8A-40F2-9CFF-EF41DDD9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24450"/>
            <a:ext cx="937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Middleware CheckRole membatasi akses berdasarkan Owner, Employee, dan Member.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70FE8D-8B6C-409A-977A-F16978EC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62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D35325-0430-44B1-979D-B5246DF5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86400"/>
            <a:ext cx="937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Route group mengelompokkan endpoint sesuai tanggung jawab aktor.</a:t>
            </a:r>
          </a:p>
        </p:txBody>
      </p:sp>
    </p:spTree>
    <p:extLst>
      <p:ext uri="{BB962C8B-B14F-4D97-AF65-F5344CB8AC3E}">
        <p14:creationId xmlns:p14="http://schemas.microsoft.com/office/powerpoint/2010/main" val="164280496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77BE4B-2C3F-476E-B2EE-02109EA2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C3C7B-CAB0-423D-8A4A-B058610F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80F8A-DB30-4A19-89A8-05D9EFE1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LOGIKA BISNIS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96566-A7C9-4339-A435-CADAF2C9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90526-77D4-49D7-A7CC-B1A455BB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AA50CB-3ECB-40C0-98B9-E9BE5E1F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Controller menangani alur operasional, bukan sekadar CRUD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91F0FC-03F0-438A-B02E-8D043D15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2094BF-0CF5-4D5B-BB4B-A735054A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562100"/>
            <a:ext cx="2447925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2a15dfdb7c4538"/>
          <a:srcRect xmlns:a="http://schemas.openxmlformats.org/drawingml/2006/main" l="4493" t="0" r="44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571625"/>
            <a:ext cx="2428875" cy="2571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311709-A128-4975-9BEA-5EF75C8A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9575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60. Check-in pelanggan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B8442-FC84-44FA-8E25-F0F7DEE9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562100"/>
            <a:ext cx="2447925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5a62f59f048b6"/>
          <a:srcRect xmlns:a="http://schemas.openxmlformats.org/drawingml/2006/main" l="0" t="8520" r="0" b="85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571625"/>
            <a:ext cx="2428875" cy="2571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F0D1E1-8927-4AB9-A1CE-74D835D2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19575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61. Validasi checkout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52C987-29F9-4F37-B24D-6A9C79E5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562100"/>
            <a:ext cx="2447925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9a9221b179441f"/>
          <a:srcRect xmlns:a="http://schemas.openxmlformats.org/drawingml/2006/main" l="0" t="425" r="0" b="4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1571625"/>
            <a:ext cx="2428875" cy="25717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345C13-2217-4D8F-9236-A76D7867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19575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62. Perhitungan pembayaran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9B35F6-9830-4B00-9295-29425A27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562100"/>
            <a:ext cx="2447925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540b61d8654853"/>
          <a:srcRect xmlns:a="http://schemas.openxmlformats.org/drawingml/2006/main" l="0" t="21375" r="0" b="213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67750" y="1571625"/>
            <a:ext cx="2428875" cy="25717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5E2181-3F14-441A-98D8-44813313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19575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63. Update stok dan member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A47454-87EA-4259-BF83-5DDD02FD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86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C3DD38-8FD6-4DD7-989F-C8E413DB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10125"/>
            <a:ext cx="908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ArrivalController mencatat pelanggan member/tamu dan status kedatangan.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D90DB3-6250-4AA4-92B8-8D5B5A71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05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EEC3EE-FA79-47DB-99EF-0A05F5C5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29225"/>
            <a:ext cx="908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TransactionController memvalidasi checkout, menghitung pembayaran, memperbarui stok, serta poin member.</a:t>
            </a:r>
          </a:p>
        </p:txBody>
      </p:sp>
    </p:spTree>
    <p:extLst>
      <p:ext uri="{BB962C8B-B14F-4D97-AF65-F5344CB8AC3E}">
        <p14:creationId xmlns:p14="http://schemas.microsoft.com/office/powerpoint/2010/main" val="26341997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C218D8-0538-4010-A8EB-3D2DFFBF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BDD57-EED8-4815-8623-6C629E37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0ABCE-5D76-4599-BE79-1DE0EB65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ENDPOINT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E0B07-981E-4F54-A000-6186E92D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967CB-C84B-4C62-B9ED-0D062C8F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1D9DE-2A98-447C-8947-1C5D8530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Endpoint utama mengikuti alur kerja tiap 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272B8-1103-4467-B5B6-DE234E86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4FE2D9-86EC-4724-8405-D219DADA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857375"/>
            <a:ext cx="22764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D2FCF5-940A-4B83-B396-175234DF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857375"/>
            <a:ext cx="22764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FD9DCF-B814-4A38-BE07-6BF888AD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08597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Public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28DC37-4A86-4F48-904E-57457C0A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145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5E938D-F8E5-48F8-BBDE-FB47E128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857375"/>
            <a:ext cx="22764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041095-A175-4F31-9F44-4863E353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857375"/>
            <a:ext cx="22764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C1FBF0-0955-46F8-9B43-7AED7746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8597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Member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D9C95F-CF3B-4487-B0A3-78352EB3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1145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E135F2-BBD7-4ED0-A7F8-97DA027D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857375"/>
            <a:ext cx="22764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511476-97AD-456F-8CBB-7B65514C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857375"/>
            <a:ext cx="22764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E19597-59FB-401B-8D54-019E6EBD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8597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Employee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7FCD21-A564-45D8-BD09-3AC9E6A8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145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202095-4C98-4B4C-A1D7-3D0A8A9E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57375"/>
            <a:ext cx="22764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D936FB-A088-4401-A777-89E8A78C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57375"/>
            <a:ext cx="22764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2652D0-4B36-4EBC-85A2-EEEA9D39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8597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330D91-8CD0-4B98-BAA3-EF4029CC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14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4F3C7C-CEFD-4FB6-9B22-FD3B02DE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238500"/>
            <a:ext cx="813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Public: leaderboard, event, informasi, dan menu spesial.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FB14FC-D50D-49F3-9E80-05BA47BE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10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CA1999-9738-4E3D-9366-1882F9B9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733800"/>
            <a:ext cx="813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Member: register, profile, dashboard, pesanan, riwayat transaksi.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21B87B-2802-4D70-87D6-BFE2E8C3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05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7A07B6-968B-4BF8-AF62-67FCD94F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229100"/>
            <a:ext cx="813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Employee: check-in, kedatangan hari ini, pending order, checkout, stok.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D8D2F0-FBA0-423F-BA1E-8F5F25BC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00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F5B2D9-1867-411C-BD5B-22268E95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24400"/>
            <a:ext cx="813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Owner: laporan ringkas, member, menu, ikan, voucher, konfigurasi.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DBAE0F-15CC-4EC6-98A0-07981867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Pembahasan Swagger diringkas pada fungsi dokumentasi endpoint.</a:t>
            </a:r>
          </a:p>
        </p:txBody>
      </p:sp>
    </p:spTree>
    <p:extLst>
      <p:ext uri="{BB962C8B-B14F-4D97-AF65-F5344CB8AC3E}">
        <p14:creationId xmlns:p14="http://schemas.microsoft.com/office/powerpoint/2010/main" val="108561980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23BCB1-8C57-4004-9A43-13900012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8712BB-30F6-4967-B090-0DF04C2B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367DB-CAA0-43EC-B2B3-A11D9FB2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INTEGRASI UI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F96987-8636-43A5-B1E7-FEC6F1D0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C21DCF-3AE3-4EB5-AB4D-BC3B60CA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BBC18-B23B-45CB-82C7-EFFCA7C7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Prototype antarmuka membuktikan API dapat dipakai lintas 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3799F8-61CF-47D5-9910-579A64E2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84705A-03AA-415C-93F6-5FDF2780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57350"/>
            <a:ext cx="17335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03f2dae054a15"/>
          <a:srcRect xmlns:a="http://schemas.openxmlformats.org/drawingml/2006/main" l="0" t="24331" r="0" b="243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666875"/>
            <a:ext cx="1714500" cy="2571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731E18-F86F-4797-AC31-CBD24EC1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148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76. Halaman utama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510236-697B-412B-8B3E-074634D1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57350"/>
            <a:ext cx="20193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90002e658947c9"/>
          <a:srcRect xmlns:a="http://schemas.openxmlformats.org/drawingml/2006/main" l="16025" t="0" r="160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19375" y="1666875"/>
            <a:ext cx="2000250" cy="1428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45A6C8-5A55-4662-8302-C167DB28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1718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78. Dashboard member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4B62F4-874D-4040-97A1-7CDE60E4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1657350"/>
            <a:ext cx="20193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2ff241311243b0"/>
          <a:srcRect xmlns:a="http://schemas.openxmlformats.org/drawingml/2006/main" l="5450" t="0" r="54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1666875"/>
            <a:ext cx="2000250" cy="14287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EB3235-6279-4C7F-BF8C-1D066DD7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718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82. Dashboard pegawai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78805A-AE60-43CD-92FB-FB0C042E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57350"/>
            <a:ext cx="20193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4d8a4a31d443b8"/>
          <a:srcRect xmlns:a="http://schemas.openxmlformats.org/drawingml/2006/main" l="0" t="5438" r="0" b="54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96125" y="1666875"/>
            <a:ext cx="2000250" cy="14287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B69084-1BCC-4238-9A81-6B58230D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1718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92. Dashboard pemilik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E8B887-2ABF-4B71-918B-CA009928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657350"/>
            <a:ext cx="17335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0b6eb3fbd64816"/>
          <a:srcRect xmlns:a="http://schemas.openxmlformats.org/drawingml/2006/main" l="0" t="674" r="0" b="6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34500" y="1666875"/>
            <a:ext cx="1714500" cy="25717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9A6A5D-EB08-4200-9C6C-8B9D396B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148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96. Laporan keuangan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7AEF34-3F35-41E2-A51A-9C70C907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33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EBEFA5-CF9E-408D-8D61-0CC40924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57750"/>
            <a:ext cx="889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Data publik, member, pegawai, dan pemilik mengambil sumber dari layanan back-end.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EB00AE-1A0A-4424-A56C-D907937E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95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199A5D-27A6-45A5-840B-5C5594F1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19700"/>
            <a:ext cx="889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Setiap tampilan menguji hubungan API dengan data operasional yang sama.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7396F5-06FB-461E-A5AC-459FD817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57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9496EB-5A97-4FF3-ABFA-32309B47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581650"/>
            <a:ext cx="889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Integrasi menunjukkan dampak pada informasi pelanggan, pesanan, transaksi, stok, dan laporan.</a:t>
            </a:r>
          </a:p>
        </p:txBody>
      </p:sp>
    </p:spTree>
    <p:extLst>
      <p:ext uri="{BB962C8B-B14F-4D97-AF65-F5344CB8AC3E}">
        <p14:creationId xmlns:p14="http://schemas.microsoft.com/office/powerpoint/2010/main" val="62885192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67FB9E-C79C-4A05-8AE2-E3BE751B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900E0-1EAD-4243-88F3-B73B9E65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AD433F-2ECA-4B0D-9B28-4A34EEE1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ITERASI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39E49-92F2-4FFF-922D-DCD2D4F0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F8967-FFBA-4572-A9C1-459F7BDA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6269C-CA74-4D04-A72F-CE64AD0E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Masukan pengguna menghasilkan perbaikan operasional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A56BE9-33BF-48BD-9F4B-389ECCB2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9C19D5-8733-4D66-98DD-0DED1A9B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628775"/>
            <a:ext cx="2019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f92a3288cc4fc1"/>
          <a:srcRect xmlns:a="http://schemas.openxmlformats.org/drawingml/2006/main" l="11062" t="0" r="110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38300"/>
            <a:ext cx="200025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45A9E6-8E98-4268-A31E-EFA5BC11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98. Tambah pesanan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99D641-AE7B-4F2C-9C1D-CCA35CE3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28775"/>
            <a:ext cx="2019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602524049448fd"/>
          <a:srcRect xmlns:a="http://schemas.openxmlformats.org/drawingml/2006/main" l="7813" t="0" r="78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05125" y="1638300"/>
            <a:ext cx="2000250" cy="13335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BE3E19-E507-49D1-B3CD-0002C0A5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48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99. Pesanan masuk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FC6581-B1CE-4471-98E5-DE803861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628775"/>
            <a:ext cx="2019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e82990cab04282"/>
          <a:srcRect xmlns:a="http://schemas.openxmlformats.org/drawingml/2006/main" l="13437" t="0" r="134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24450" y="1638300"/>
            <a:ext cx="2000250" cy="13335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466B1C-9222-49D4-A746-67C47E21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48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100. Batal pending order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03B574-1AB1-43C3-BAF8-FCF18147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28775"/>
            <a:ext cx="2019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57e3616175413f"/>
          <a:srcRect xmlns:a="http://schemas.openxmlformats.org/drawingml/2006/main" l="13615" t="0" r="136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43775" y="1638300"/>
            <a:ext cx="2000250" cy="13335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F0874F-B9D1-4D51-824D-62B2A07A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048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101. Menu spesial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5C712A-391B-4549-8CF0-B9A7EEC8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628775"/>
            <a:ext cx="1828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6550474144a5f"/>
          <a:srcRect xmlns:a="http://schemas.openxmlformats.org/drawingml/2006/main" l="16181" t="0" r="161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63100" y="1638300"/>
            <a:ext cx="1809750" cy="13335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75C25A-CEE4-4AB6-9243-F3D9DF66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480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102. Popup menu spesial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EF00F4-1264-4754-8AA8-D9A26386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76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D6596E-C79A-4969-ACC6-F81056EB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000500"/>
            <a:ext cx="889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Role pegawai diperbaiki pada status pesanan dan pembayaran.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992E0C-8CCC-4FD9-842B-17892D9E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476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0AE0C3-FF5C-4C9C-BF87-FE424858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400550"/>
            <a:ext cx="889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Pending order dapat dibatalkan sebelum checkout.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5F416E-BEF8-4FC8-A07D-26184866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76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964D16-A947-4768-B584-149EE5D4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800600"/>
            <a:ext cx="889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Nota transaksi disediakan setelah pembayaran berhasil.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5DFE5F-5505-417D-9B11-E89B9BFA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276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6D242B-2D75-4842-9DCD-4636CF4D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5200650"/>
            <a:ext cx="889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Menu spesial dari pemilik muncul kembali di halaman member dan publik.</a:t>
            </a:r>
          </a:p>
        </p:txBody>
      </p:sp>
    </p:spTree>
    <p:extLst>
      <p:ext uri="{BB962C8B-B14F-4D97-AF65-F5344CB8AC3E}">
        <p14:creationId xmlns:p14="http://schemas.microsoft.com/office/powerpoint/2010/main" val="99089708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C1DCE7-0C9A-40CA-9BB5-C4B4B37E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4B11B-55A5-4300-943A-731CD8AD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49921-ADCC-46A5-A36D-C79E26E9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DAMPAK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4624B-F07E-4903-A444-F005943C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CD241-5E30-40B4-BDAC-7C626594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91D67-956E-4FDF-B4A7-34DD7920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Implementasi menjawab pain point operasional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366B03-3B9B-4B03-9CB9-87E6C1AA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F5FF5B-5CD4-4863-9E43-C1F77A1E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435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7A845-B471-4E6C-AA96-01CCD7F9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1435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70A8C7-DE79-4A6B-9AB2-3DA0ACAD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10C4FB-06C0-480E-81F3-CABA0149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547168-6333-4B29-9518-7E53176B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Sebelum Implementasi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E83FCB-285D-461F-B1AA-7A0A99AC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6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Setelah Implementasi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A0ED8C-D27E-424B-8C34-2B776E93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7D7FCB-803F-47C8-922C-D13D9A53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955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Data dicatat dua kali dan tersebar.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AC66A9-822E-4D0F-B7E7-B94DF3AD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2A918D-7F75-4861-8686-592DFAF1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527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Member dikenali dari hafalan pegawai.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C95D74-83A7-43B9-9BEA-ACDE38CD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0853DF-1DC8-4082-A829-A70731C1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99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Stok dan transaksi tidak otomatis saling mempengaruhi.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AE3C2D-E2AC-4916-81D4-47C832B6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9EF957-5D74-4877-881F-166D040F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671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Laporan menunggu rekap manual.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DA614D-142E-43E6-8185-21CF4F62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7C80B7-1AED-4252-91D5-FC3C56F4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955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Satu basis data menjadi sumber data bersama.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FC979E-D063-4C2A-9EF2-B242D275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AE08EE-1532-46BA-BD64-CD59D6DA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Member dicari dan divalidasi oleh sistem.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C3F006-5590-4751-B5EB-F9AB6623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053CCD-2C2A-4019-8FD8-98D60103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099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Checkout memperbarui stok, poin, tier, dan transaksi.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8F2AE2-57E7-447E-9EF1-11754F60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43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AD1BF3-2F19-4291-8897-C232C494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671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Dashboard dan laporan memakai data operasional terkini.</a:t>
            </a:r>
          </a:p>
        </p:txBody>
      </p:sp>
    </p:spTree>
    <p:extLst>
      <p:ext uri="{BB962C8B-B14F-4D97-AF65-F5344CB8AC3E}">
        <p14:creationId xmlns:p14="http://schemas.microsoft.com/office/powerpoint/2010/main" val="204487419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0D471B-219E-479B-B079-F9CAEB43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C34FC-C0F6-4761-A15F-647E35A4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157164-7271-4D1A-98A2-3CEEE160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DEMONSTRASI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A5A02-7803-452C-937D-FCDF27FC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0C41D-D4DF-4B2B-90AA-18E4DE73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CF5E7F-2F36-45B5-83D4-7872EF17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Demo mengikuti alur Employee -&gt; Member -&gt; Employee -&gt; Owner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43FA93-F83A-4B38-BF3C-588976D1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53CF8C-C9E6-4958-938F-A89059AF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647825"/>
            <a:ext cx="24003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257776de564c78"/>
          <a:srcRect xmlns:a="http://schemas.openxmlformats.org/drawingml/2006/main" l="9719" t="0" r="97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657350"/>
            <a:ext cx="2381250" cy="1428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299F0-E405-42EA-A88A-E0DF4282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Employee: validasi member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AE0DF8-31FC-421B-8EBD-D7E820FD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647825"/>
            <a:ext cx="24003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de57ece2044edb"/>
          <a:srcRect xmlns:a="http://schemas.openxmlformats.org/drawingml/2006/main" l="8777" t="0" r="87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29000" y="1657350"/>
            <a:ext cx="2381250" cy="1428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79ABCD-80C8-44B1-A860-96619A48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623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Member: membuat pesanan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DB77F5-8D4F-4836-BF38-1A5C9748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647825"/>
            <a:ext cx="24003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aed5bedea5471a"/>
          <a:srcRect xmlns:a="http://schemas.openxmlformats.org/drawingml/2006/main" l="0" t="15088" r="0" b="150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657350"/>
            <a:ext cx="2381250" cy="14287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DBAD7E-7096-4B47-B04A-AA2E8C82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623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Employee: checkout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697DF5-2053-4925-9B11-80E7978E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647825"/>
            <a:ext cx="24003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7c61949fd843fc"/>
          <a:srcRect xmlns:a="http://schemas.openxmlformats.org/drawingml/2006/main" l="0" t="12568" r="0" b="12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0" y="1657350"/>
            <a:ext cx="2381250" cy="14287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78A3C4-B877-44C7-A12A-34F945AA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623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Owner: monitoring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32529C-FD13-4312-AF98-C3C22771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95750"/>
            <a:ext cx="20145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1FA36E-3CAD-48F5-A814-57651FA9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95750"/>
            <a:ext cx="2014538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559A7D-41C2-42E4-96C0-A54F92AF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324350"/>
            <a:ext cx="17859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Check-in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933C80-ED16-4AFD-9F3E-E6F828ED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43529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A0F8F8-A75A-4164-8BD0-D28ABA79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4095750"/>
            <a:ext cx="20145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A5E559-E2AF-44A5-8BCA-472AEFCF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4095750"/>
            <a:ext cx="2014538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D6E41D-F588-4A76-8407-1373D094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663" y="4324350"/>
            <a:ext cx="17859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Order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7FC604-E8B2-4ACB-80C7-E0C34431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3529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1687C0-E55B-4657-AC40-6072835E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95750"/>
            <a:ext cx="20145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E68FE8-B055-4877-B3F5-A6594645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95750"/>
            <a:ext cx="2014538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B8744A-0495-4DB9-8056-86FCAA1D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24350"/>
            <a:ext cx="17859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Checkout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005170-304A-4DFE-A742-EB55D840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938" y="43529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D17B64-78D6-42A7-AE8D-EE65FC08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338" y="4095750"/>
            <a:ext cx="20145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B7ABF4-5A69-4FC3-BED8-60F22D53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338" y="4095750"/>
            <a:ext cx="2014538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91F7A3-DFB2-436C-99D9-8DA50260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8638" y="4324350"/>
            <a:ext cx="17859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Report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11E997-1BEC-46A6-914C-C72DE294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51BFB5-7507-4E90-98BB-C5136680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334000"/>
            <a:ext cx="832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Alur demo menunjukkan data bergerak dari operasi harian menuju laporan pemilik.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907045-92DF-41F4-B062-4701A9D0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72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84A1CB-425D-402D-8B49-387BAABB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695950"/>
            <a:ext cx="832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Setiap langkah menggunakan endpoint back-end yang terhubung dengan basis data.</a:t>
            </a:r>
          </a:p>
        </p:txBody>
      </p:sp>
    </p:spTree>
    <p:extLst>
      <p:ext uri="{BB962C8B-B14F-4D97-AF65-F5344CB8AC3E}">
        <p14:creationId xmlns:p14="http://schemas.microsoft.com/office/powerpoint/2010/main" val="196569867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00CA1D-78BE-430E-A3F3-1A34F72A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23633-A24F-40FB-998F-2AF1D1F5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561D21-F356-4FBF-8950-F88DC9A5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PENGUJIAN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0440C-EBEE-44A6-BA57-11F56DE1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9B754-04D2-40D5-9B2A-94118132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1EACC-E62A-449F-8C6B-30E3CFA4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Black Box Testing membuktikan fungsi utama valid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C731D-7406-431D-B059-0FFC456C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1C01B1-C20F-442B-B10C-83341FBC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5668FF-A497-4AE4-B996-62E234DC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B8917-E5C8-4907-A5D7-0882F432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097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D6FFE-4A21-4442-8C85-8DC7508B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050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Total test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77C80D-84CE-4238-BCE4-3777097A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527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Tabel 71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600BAB-A659-4B7F-B8D5-1552F185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57375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3AC109-10F7-44C7-BE89-F45CFDF4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5737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7CE2F1-5EC5-4490-80B5-9A28A173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0097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771C07-6DB7-4E7B-A023-634B481B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050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Status valid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62BC85-8161-4DEC-A358-8B4E046F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527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100%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C7895-672A-4625-B0E5-E21DCCB7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CAB073-5AC1-4EAC-A691-76F0E633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D48B79-59C9-4FCA-99E2-A3BE81D0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97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A75EA2-B9E5-4F97-AB2E-0B8D51F2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050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Status tidak valid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B96D42-4D42-456C-BB6D-B2225EFF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90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84DE88-2AF4-462D-A351-1D1D406F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14750"/>
            <a:ext cx="832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Login dan autentikasi: 10/10 valid.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930415-E485-44F0-AFD3-49E0B7B6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71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CEF0A8-CF83-453F-8874-8CDF3191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95750"/>
            <a:ext cx="832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Halaman utama: 7/7 valid.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896234-487F-45FD-A681-E5EFDA0C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52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BF5194-39FC-4E79-A484-A9E8BDE5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76750"/>
            <a:ext cx="832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Fitur Member: 16/16 valid.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B110ED-48AA-4125-909D-737F0E53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33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279839-4A74-4EFC-9B44-FBC395A5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57750"/>
            <a:ext cx="832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Fitur Employee: 42/42 valid.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EB32C8-7189-4995-9A19-73B7F8C1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14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67DCDE-BF94-4056-8AD3-77A6D327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38750"/>
            <a:ext cx="832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Fitur Owner: 30/30 valid.</a:t>
            </a:r>
          </a:p>
        </p:txBody>
      </p:sp>
    </p:spTree>
    <p:extLst>
      <p:ext uri="{BB962C8B-B14F-4D97-AF65-F5344CB8AC3E}">
        <p14:creationId xmlns:p14="http://schemas.microsoft.com/office/powerpoint/2010/main" val="131169139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F393FF-6D2D-474C-BEF2-2A5D6C41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E8AD2-3C96-4E13-80BE-36901134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146AB7-1AA6-40CC-A854-E1DFE3EC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EVALUASI USABILITY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D04005-12E2-43C8-9D07-AA27F53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02EADC-4D23-4C9A-84D7-35F17C26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730E8-4AA8-45D9-80E4-8BA33E5D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SUS menilai penerimaan alur sistem terintegrasi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07A459-B9D5-4250-89B4-C502237C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835C59-A958-428B-80EE-3EAE00E6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132E0-8B2E-451B-BC9B-982148E6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D3B331-3B72-42B6-B378-439D0BEA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621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8FFC7F-9766-4CC6-9AC6-EEEB1434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574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Responden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053060-FCEB-46BE-B582-864B6FD8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1 owner, 1 employee, 5 member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3F7349-0FD3-41B6-987E-12349CD9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809750"/>
            <a:ext cx="228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68627-C47B-40F3-8E22-7C92C6F7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717755-5516-4801-91E8-72D8E371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9621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30A4C3-5A50-47B9-BC82-1A60A355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57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Pertanyaan SUS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87E86E-EE71-46DB-8B31-0CBC50BD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2667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FDC1D6-D95F-4543-A48E-1F311662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3CC492-57F3-4C3D-9ECA-0141E47F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621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13 Juni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684FBA-E993-4802-98C2-9A190B46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Tanggal uji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E89028-F738-4A23-864E-75A59E94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95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C7557B-398D-475F-8933-1773B15F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619500"/>
            <a:ext cx="832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Responden menjalankan skenario sesuai role sebelum mengisi kuesioner.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4FD122-4C1E-4018-B2F3-319E3775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52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1D9D36-5900-49AE-9616-D64687FC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76700"/>
            <a:ext cx="832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Owner berfokus pada pemantauan operasional, data, dan informasi bisnis.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ED3E6D-931D-4115-AB9C-CA09CBE3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0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52723B-DAC8-496F-BD32-76D88FD8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33900"/>
            <a:ext cx="832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Employee berfokus pada kedatangan, pesanan, dan pembayaran.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5418AD-ED76-43AC-9453-799EB5D4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67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429CCC-F8EC-477A-B578-6B207FFB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91100"/>
            <a:ext cx="832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Member berfokus pada akun, pemesanan, riwayat, dan leaderboard.</a:t>
            </a:r>
          </a:p>
        </p:txBody>
      </p:sp>
    </p:spTree>
    <p:extLst>
      <p:ext uri="{BB962C8B-B14F-4D97-AF65-F5344CB8AC3E}">
        <p14:creationId xmlns:p14="http://schemas.microsoft.com/office/powerpoint/2010/main" val="129842890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015E53-F280-4D0D-9A6A-F4945639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18BEB-864D-443F-9DF5-1907DCBB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D5202-8F82-4051-9597-7C57D4F0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HASIL SUS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64C89-1612-4D2E-8E1F-B134014B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EDB28-5425-42D0-A169-F7FEF5B0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389A6-B0C6-4C20-93DE-D7C077A1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Skor SUS 89,6 menunjukkan sistem diterima sangat baik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063B8-1D96-44A8-8B5C-4D28168D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AF05E-23CE-4334-8194-1C2A926E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800225"/>
            <a:ext cx="63055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7ca78da5f5416b"/>
          <a:stretch xmlns:a="http://schemas.openxmlformats.org/drawingml/2006/main"/>
        </p:blipFill>
        <p:spPr>
          <a:xfrm xmlns:a="http://schemas.openxmlformats.org/drawingml/2006/main">
            <a:off x="857250" y="1810405"/>
            <a:ext cx="6286500" cy="209419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4B542-6D9F-4BCA-886A-E05F29B5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103. Interpretasi Skor SUS Hasil Pengujian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D131C-EF10-4156-B6C3-0932279C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478031-D60C-4C8B-A3D0-5A357FEC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66C16-9F3F-4435-8AA4-CE6EE49F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9621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89,6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669EE-F549-4093-957A-46BFA2A3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457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Rata-rata SUS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71F2BA-6C67-4AFD-9792-BD7B5725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190875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24A5ED-945E-4955-9300-A1BE2984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19087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4312FE-4B80-45A2-A899-B4D675A7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3432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Excellent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085560-07DD-4C0D-8839-65D2DD5D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8385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Adjective rating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5746B5-837C-4BB4-B389-672545CA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7200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58AF2C-90B1-46D1-B268-11D31743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720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0D6B7D-D38A-4608-A216-23BCA5C4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7244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409D93-9C0A-4F86-BF03-8FDE36F9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219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Grade scale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F3F4C7-36FC-4003-89F4-A4E00CF3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467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Acceptable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3B447F-AA6D-4C1C-B3C0-36A508A3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05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31C458-4318-41D7-832B-BB19B670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429125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Enam responden berada pada interpretasi Excellent.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A4F3A3-E9DB-46EC-912F-09A96486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86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95719D-7504-4511-A1A9-5AD749E7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810125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Satu responden berada pada interpretasi Good.</a:t>
            </a:r>
          </a:p>
        </p:txBody>
      </p:sp>
    </p:spTree>
    <p:extLst>
      <p:ext uri="{BB962C8B-B14F-4D97-AF65-F5344CB8AC3E}">
        <p14:creationId xmlns:p14="http://schemas.microsoft.com/office/powerpoint/2010/main" val="146094404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DD3E4C-6458-4B97-B36B-7F3888F0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325C75-767D-401C-85F2-CC39CC45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37680-3BE4-4841-92A1-63A28A90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KESIMPULAN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39BE6-8402-47D7-AD6D-AFF89783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7544B-F45A-43DC-A604-F566231E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94FA3-F74C-4D52-8DE7-D122289A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Pain point utama berhasil dijawab oleh back-end terintegrasi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CC7E9-4160-4AF7-B1A7-EAA3B7D6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AE3713-07A5-41CA-872D-D6D0A649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52625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618766-E569-4ACC-BA7C-B7FAC21E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5262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3F17C-5422-4751-8539-9B848B9F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050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Analisis kebutuhan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A6FCD3-FC3C-43EE-9F0D-5EC35B4D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003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43E12A-B3CB-4C0C-B765-CFDE63CB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479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Masalah manual diterjemahkan menjadi kebutuhan sistem.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3AC951-914F-4339-A11D-E70BB776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52625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05E8DA-63FE-4DE5-B27C-951400EB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5262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06D2FD-0682-4636-AC3A-99E6B67E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050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Design dan implementasi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F677F3-7236-4DCF-9C17-68A0513B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003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D9C38E-7267-4E3F-B883-8A3CE3BF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479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Laravel, MySQL, Sanctum, REST API, role, validasi.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61AC7A-20CA-41FF-A116-AEBC86BA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52625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23B1AC-1F1F-4442-B497-58F20E31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5262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1F1C31-EB7B-498A-9322-7EC64F2E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050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Pengujian dan evaluasi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C72684-09F7-4136-8A0C-BC11CA7A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003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3450BB-18BA-4434-8616-E8E7FB8A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479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105 test case valid dan SUS 89,6.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39F2BF-5EBB-43BD-AD26-1D7BF458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171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20DEF9-3156-449A-880D-EE866869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095750"/>
            <a:ext cx="908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Back-end mendukung pengelolaan data pengguna, kedatangan, pesanan, checkout, stok, voucher, notifikasi, konfigurasi, dan laporan.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E280AF-6BA1-492C-98EF-64D696A8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91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638D6C-D6E3-4504-AD1A-31DD084C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514850"/>
            <a:ext cx="908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Integrasi API membuat prototype antarmuka memakai data operasional yang sama.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01D2ED-AFC0-44E2-99CE-2CB10110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10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F53F63-4362-4DF8-84B8-BFA9194A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933950"/>
            <a:ext cx="908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Hasil pengujian menunjukkan fungsi valid dan alur sistem diterima pengguna.</a:t>
            </a:r>
          </a:p>
        </p:txBody>
      </p:sp>
    </p:spTree>
    <p:extLst>
      <p:ext uri="{BB962C8B-B14F-4D97-AF65-F5344CB8AC3E}">
        <p14:creationId xmlns:p14="http://schemas.microsoft.com/office/powerpoint/2010/main" val="65977176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E57D27-D6D0-4DE8-9802-723712A1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62959-792A-40D3-A8B5-82306DB4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AD034-A058-4AE9-950A-94A621E8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SARAN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B3026-1FA2-41C2-B544-324B0F47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9AB55F-F24D-433F-B03F-F36BA292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42E99-2998-4B59-A142-43AC755E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Pengembangan berikutnya memperkuat adopsi dan kesiapan produksi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945F82-A0EB-4D11-AB4B-2257DF6A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594638-CB67-4733-90D0-FA876516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435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5F2343-1C6C-4BE8-8DA7-2D4D2EE1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1435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8EE2E4-4AC9-4DCF-BF0B-63FED030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CA6D4-1855-4076-A7E9-37A7DC9C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783560-7C8C-489F-BBB5-D9F88297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Untuk Pemancingan 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15A9B2-2F01-4393-BDA3-91524F1A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6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Untuk Penelitian Selanjutnya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EC2144-3CF7-4486-8E22-F78ED4C3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034945-8C2C-431B-B095-50FD2B41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955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Terapkan sistem secara bertahap di operasional nyata.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F6F0A4-4C88-48BF-94D9-85FB9619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68A154-3EA5-4853-BDB1-87F9D85E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527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Lakukan demonstrasi dan pelatihan untuk pemilik, pegawai, dan member.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D12C2A-579B-4BDC-9A59-41F5258F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44EBAF-E18B-4070-9245-07964BCB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99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Mulai dari alur login, kedatangan, pemesanan, checkout, stok, menu, dan laporan.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F12D4C-B50A-4FB6-ACD1-43A0C90F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7E617E-6DB3-4807-8DE9-9079963B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955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Integrasikan payment gateway atau QRIS dinamis.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2F98D5-D0FE-4B64-831F-488CACCF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D3C083-2DD5-42D8-B0E5-0B37E384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Uji performa, keamanan, deployment, monitoring, dan backup.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E2915E-29FE-4048-AD8A-4DC8C777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4772D1-0A7E-43B8-9BAD-4E6E5882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099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Kembangkan aplikasi mobile, analitik bisnis, serta pengujian dengan periode lebih panjang.</a:t>
            </a:r>
          </a:p>
        </p:txBody>
      </p:sp>
    </p:spTree>
    <p:extLst>
      <p:ext uri="{BB962C8B-B14F-4D97-AF65-F5344CB8AC3E}">
        <p14:creationId xmlns:p14="http://schemas.microsoft.com/office/powerpoint/2010/main" val="9597374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2026-07-06T10:20:38.4980000Z</dcterms:created>
  <dcterms:modified xsi:type="dcterms:W3CDTF">2026-07-06T10:20:38.4980000Z</dcterms:modified>
</coreProperties>
</file>